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 Id="rId4" Type="http://schemas.openxmlformats.org/officeDocument/2006/relationships/image" Target="../media/image2.png"/><Relationship Id="rId5"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via-app-k7o7.onrender.com/" TargetMode="External"/><Relationship Id="rId3" Type="http://schemas.openxmlformats.org/officeDocument/2006/relationships/hyperlink" Target="https://github.com/Kishan-Kumar-Hv/hmit" TargetMode="External"/><Relationship Id="rId4" Type="http://schemas.openxmlformats.org/officeDocument/2006/relationships/hyperlink" Target="Phase_4_Final_Project_Submission_Veltrox.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594360"/>
            <a:ext cx="3566160" cy="347472"/>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900">
                <a:solidFill>
                  <a:srgbClr val="0F766E"/>
                </a:solidFill>
              </a:rPr>
              <a:t>HACKMITTEN 2026 • CYBERSECURITY &amp; AI TRACK</a:t>
            </a:r>
          </a:p>
        </p:txBody>
      </p:sp>
      <p:sp>
        <p:nvSpPr>
          <p:cNvPr id="5" name="TextBox 4"/>
          <p:cNvSpPr txBox="1"/>
          <p:nvPr/>
        </p:nvSpPr>
        <p:spPr>
          <a:xfrm>
            <a:off x="731520" y="1051560"/>
            <a:ext cx="10728655" cy="1463040"/>
          </a:xfrm>
          <a:prstGeom prst="rect">
            <a:avLst/>
          </a:prstGeom>
          <a:noFill/>
        </p:spPr>
        <p:txBody>
          <a:bodyPr wrap="none">
            <a:spAutoFit/>
          </a:bodyPr>
          <a:lstStyle/>
          <a:p>
            <a:r>
              <a:rPr b="1" sz="4000">
                <a:solidFill>
                  <a:srgbClr val="0F172A"/>
                </a:solidFill>
              </a:rPr>
              <a:t>CHATVIA</a:t>
            </a:r>
          </a:p>
          <a:p>
            <a:r>
              <a:rPr b="1" sz="1600">
                <a:solidFill>
                  <a:srgbClr val="0F766E"/>
                </a:solidFill>
              </a:rPr>
              <a:t>Next-Generation Confidential Messaging with AI Biometrics &amp; Client-Side Steganography</a:t>
            </a:r>
          </a:p>
          <a:p>
            <a:r>
              <a:rPr sz="1100">
                <a:solidFill>
                  <a:srgbClr val="334155"/>
                </a:solidFill>
              </a:rPr>
              <a:t>Eliminating the physical 'last-inch' presentation vulnerability through continuous facial verification, zero-knowledge encryption, and ephemeral forensic self-healing.</a:t>
            </a:r>
          </a:p>
        </p:txBody>
      </p:sp>
      <p:sp>
        <p:nvSpPr>
          <p:cNvPr id="6" name="Rounded Rectangle 5"/>
          <p:cNvSpPr/>
          <p:nvPr/>
        </p:nvSpPr>
        <p:spPr>
          <a:xfrm>
            <a:off x="731520" y="2697480"/>
            <a:ext cx="10728655"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807208"/>
            <a:ext cx="10399471" cy="365760"/>
          </a:xfrm>
          <a:prstGeom prst="rect">
            <a:avLst/>
          </a:prstGeom>
          <a:noFill/>
        </p:spPr>
        <p:txBody>
          <a:bodyPr wrap="none">
            <a:spAutoFit/>
          </a:bodyPr>
          <a:lstStyle/>
          <a:p>
            <a:r>
              <a:rPr b="1" sz="1100">
                <a:solidFill>
                  <a:srgbClr val="0F172A"/>
                </a:solidFill>
              </a:rPr>
              <a:t>TEAM 65 — VELTROX | MEMBER ROLES &amp; CONTRIBUTIONS</a:t>
            </a:r>
          </a:p>
        </p:txBody>
      </p:sp>
      <p:sp>
        <p:nvSpPr>
          <p:cNvPr id="8" name="Rounded Rectangle 7"/>
          <p:cNvSpPr/>
          <p:nvPr/>
        </p:nvSpPr>
        <p:spPr>
          <a:xfrm>
            <a:off x="868680" y="3246120"/>
            <a:ext cx="2542032" cy="2560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Kishan Kumar H V
</a:t>
            </a:r>
            <a:r>
              <a:rPr b="1" sz="850">
                <a:solidFill>
                  <a:srgbClr val="0D9488"/>
                </a:solidFill>
              </a:rPr>
              <a:t>Team Lead &amp; Cloud Architect
</a:t>
            </a:r>
          </a:p>
          <a:p>
            <a:r>
              <a:rPr sz="800">
                <a:solidFill>
                  <a:srgbClr val="334155"/>
                </a:solidFill>
              </a:rPr>
              <a:t>Production PaaS deployment on Render, Express 5 reverse proxy, Supabase SSL pooler engineering, system testing, automated build pipelines, and quality assurance.</a:t>
            </a:r>
          </a:p>
        </p:txBody>
      </p:sp>
      <p:sp>
        <p:nvSpPr>
          <p:cNvPr id="9" name="Rounded Rectangle 8"/>
          <p:cNvSpPr/>
          <p:nvPr/>
        </p:nvSpPr>
        <p:spPr>
          <a:xfrm>
            <a:off x="3502152" y="3246120"/>
            <a:ext cx="2542032" cy="2560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Santhosh J R
</a:t>
            </a:r>
            <a:r>
              <a:rPr b="1" sz="850">
                <a:solidFill>
                  <a:srgbClr val="2563EB"/>
                </a:solidFill>
              </a:rPr>
              <a:t>Full-Stack &amp; Biometrics Core
</a:t>
            </a:r>
          </a:p>
          <a:p>
            <a:r>
              <a:rPr sz="800">
                <a:solidFill>
                  <a:srgbClr val="334155"/>
                </a:solidFill>
              </a:rPr>
              <a:t>FastAPI InspireFace AI microservice integration, 512-d feature extraction, real-time WebSocket communication hub, active camera surveillance loop, and alert banners.</a:t>
            </a:r>
          </a:p>
        </p:txBody>
      </p:sp>
      <p:sp>
        <p:nvSpPr>
          <p:cNvPr id="10" name="Rounded Rectangle 9"/>
          <p:cNvSpPr/>
          <p:nvPr/>
        </p:nvSpPr>
        <p:spPr>
          <a:xfrm>
            <a:off x="6135624" y="3246120"/>
            <a:ext cx="2542032" cy="2560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Suhas B R
</a:t>
            </a:r>
            <a:r>
              <a:rPr b="1" sz="850">
                <a:solidFill>
                  <a:srgbClr val="059669"/>
                </a:solidFill>
              </a:rPr>
              <a:t>Security &amp; Steganography
</a:t>
            </a:r>
          </a:p>
          <a:p>
            <a:r>
              <a:rPr sz="800">
                <a:solidFill>
                  <a:srgbClr val="334155"/>
                </a:solidFill>
              </a:rPr>
              <a:t>Client-side Web Crypto API pipeline (AES-256-GCM), friendship secret agreement with PBKDF2 salted hashing, non-exportable IndexedDB keys, and randomized LSB engine.</a:t>
            </a:r>
          </a:p>
        </p:txBody>
      </p:sp>
      <p:sp>
        <p:nvSpPr>
          <p:cNvPr id="11" name="Rounded Rectangle 10"/>
          <p:cNvSpPr/>
          <p:nvPr/>
        </p:nvSpPr>
        <p:spPr>
          <a:xfrm>
            <a:off x="8769096" y="3246120"/>
            <a:ext cx="2542032" cy="2560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Dhruva Kumar V M
</a:t>
            </a:r>
            <a:r>
              <a:rPr b="1" sz="850">
                <a:solidFill>
                  <a:srgbClr val="7C3AED"/>
                </a:solidFill>
              </a:rPr>
              <a:t>Frontend Lead &amp; UI/UX
</a:t>
            </a:r>
          </a:p>
          <a:p>
            <a:r>
              <a:rPr sz="800">
                <a:solidFill>
                  <a:srgbClr val="334155"/>
                </a:solidFill>
              </a:rPr>
              <a:t>Modern React 19 SPA architecture, responsive Tailwind styling with dark/light themes, WebRTC camera lifecycle management, attachment uploading, and master report documentation.</a:t>
            </a:r>
          </a:p>
        </p:txBody>
      </p:sp>
      <p:sp>
        <p:nvSpPr>
          <p:cNvPr id="12" name="TextBox 11"/>
          <p:cNvSpPr txBox="1"/>
          <p:nvPr/>
        </p:nvSpPr>
        <p:spPr>
          <a:xfrm>
            <a:off x="731520" y="6172200"/>
            <a:ext cx="2926080" cy="365760"/>
          </a:xfrm>
          <a:prstGeom prst="rect">
            <a:avLst/>
          </a:prstGeom>
          <a:noFill/>
        </p:spPr>
        <p:txBody>
          <a:bodyPr wrap="none">
            <a:spAutoFit/>
          </a:bodyPr>
          <a:lstStyle/>
          <a:p>
            <a:r>
              <a:rPr b="1" sz="950">
                <a:solidFill>
                  <a:srgbClr val="64748B"/>
                </a:solidFill>
              </a:rPr>
              <a:t>Interactive Presentation Navigation:</a:t>
            </a:r>
          </a:p>
        </p:txBody>
      </p:sp>
      <p:sp>
        <p:nvSpPr>
          <p:cNvPr id="13" name="Rounded Rectangle 12"/>
          <p:cNvSpPr/>
          <p:nvPr/>
        </p:nvSpPr>
        <p:spPr>
          <a:xfrm>
            <a:off x="3657600" y="6144768"/>
            <a:ext cx="1371600" cy="329184"/>
          </a:xfrm>
          <a:prstGeom prst="roundRect">
            <a:avLst/>
          </a:prstGeom>
          <a:solidFill>
            <a:srgbClr val="DBEAFE"/>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00">
                <a:solidFill>
                  <a:srgbClr val="1D4ED8"/>
                </a:solidFill>
              </a:rPr>
              <a:t>1. Architecture →</a:t>
            </a:r>
          </a:p>
        </p:txBody>
      </p:sp>
      <p:sp>
        <p:nvSpPr>
          <p:cNvPr id="14" name="Rounded Rectangle 13"/>
          <p:cNvSpPr/>
          <p:nvPr/>
        </p:nvSpPr>
        <p:spPr>
          <a:xfrm>
            <a:off x="5120640" y="6144768"/>
            <a:ext cx="1371600" cy="329184"/>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00">
                <a:solidFill>
                  <a:srgbClr val="0F766E"/>
                </a:solidFill>
              </a:rPr>
              <a:t>2. Features →</a:t>
            </a:r>
          </a:p>
        </p:txBody>
      </p:sp>
      <p:sp>
        <p:nvSpPr>
          <p:cNvPr id="15" name="Rounded Rectangle 14"/>
          <p:cNvSpPr/>
          <p:nvPr/>
        </p:nvSpPr>
        <p:spPr>
          <a:xfrm>
            <a:off x="6583680" y="6144768"/>
            <a:ext cx="1371600" cy="329184"/>
          </a:xfrm>
          <a:prstGeom prst="roundRect">
            <a:avLst/>
          </a:prstGeom>
          <a:solidFill>
            <a:srgbClr val="D1FAE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00">
                <a:solidFill>
                  <a:srgbClr val="059669"/>
                </a:solidFill>
              </a:rPr>
              <a:t>3. Testing (20/20) →</a:t>
            </a:r>
          </a:p>
        </p:txBody>
      </p:sp>
      <p:sp>
        <p:nvSpPr>
          <p:cNvPr id="16" name="Rounded Rectangle 15"/>
          <p:cNvSpPr/>
          <p:nvPr/>
        </p:nvSpPr>
        <p:spPr>
          <a:xfrm>
            <a:off x="8046720" y="6144768"/>
            <a:ext cx="1371600" cy="329184"/>
          </a:xfrm>
          <a:prstGeom prst="roundRect">
            <a:avLst/>
          </a:prstGeom>
          <a:solidFill>
            <a:srgbClr val="FEF3C7"/>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00">
                <a:solidFill>
                  <a:srgbClr val="D97706"/>
                </a:solidFill>
              </a:rPr>
              <a:t>4. Screenshots →</a:t>
            </a:r>
          </a:p>
        </p:txBody>
      </p:sp>
      <p:sp>
        <p:nvSpPr>
          <p:cNvPr id="17" name="Rounded Rectangle 16"/>
          <p:cNvSpPr/>
          <p:nvPr/>
        </p:nvSpPr>
        <p:spPr>
          <a:xfrm>
            <a:off x="9509760" y="6144768"/>
            <a:ext cx="1950415" cy="329184"/>
          </a:xfrm>
          <a:prstGeom prst="roundRect">
            <a:avLst/>
          </a:prstGeom>
          <a:solidFill>
            <a:srgbClr val="0D9488"/>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00">
                <a:solidFill>
                  <a:srgbClr val="FFFFFF"/>
                </a:solidFill>
              </a:rPr>
              <a:t>⚡ Open Live App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Executive Summary: The Complete Journey (Phases 1 → 4)</a:t>
            </a:r>
          </a:p>
        </p:txBody>
      </p:sp>
      <p:sp>
        <p:nvSpPr>
          <p:cNvPr id="6" name="Rounded Rectangle 5"/>
          <p:cNvSpPr/>
          <p:nvPr/>
        </p:nvSpPr>
        <p:spPr>
          <a:xfrm>
            <a:off x="6492240"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2578608" cy="5120640"/>
          </a:xfrm>
          <a:prstGeom prst="roundRect">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00">
                <a:solidFill>
                  <a:srgbClr val="0F172A"/>
                </a:solidFill>
              </a:rPr>
              <a:t>Phase 1: Initial Analysis
</a:t>
            </a:r>
            <a:r>
              <a:rPr b="1" sz="800">
                <a:solidFill>
                  <a:srgbClr val="0F766E"/>
                </a:solidFill>
              </a:rPr>
              <a:t>[IDEATION &amp; CARDBOARD]
</a:t>
            </a:r>
          </a:p>
          <a:p>
            <a:pPr>
              <a:spcAft>
                <a:spcPts val="600"/>
              </a:spcAft>
            </a:pPr>
            <a:r>
              <a:rPr sz="800">
                <a:solidFill>
                  <a:srgbClr val="334155"/>
                </a:solidFill>
              </a:rPr>
              <a:t>• Conducted offline whiteboard brainstorming to uncover communication gaps</a:t>
            </a:r>
          </a:p>
          <a:p>
            <a:pPr>
              <a:spcAft>
                <a:spcPts val="600"/>
              </a:spcAft>
            </a:pPr>
            <a:r>
              <a:rPr sz="800">
                <a:solidFill>
                  <a:srgbClr val="334155"/>
                </a:solidFill>
              </a:rPr>
              <a:t>• Conceived a 3-tier defense architecture on a physical cardboard sheet</a:t>
            </a:r>
          </a:p>
          <a:p>
            <a:pPr>
              <a:spcAft>
                <a:spcPts val="600"/>
              </a:spcAft>
            </a:pPr>
            <a:r>
              <a:rPr sz="800">
                <a:solidFill>
                  <a:srgbClr val="334155"/>
                </a:solidFill>
              </a:rPr>
              <a:t>• Evaluated &amp; rejected client WASM vision due to battery drain &amp; inspection risk</a:t>
            </a:r>
          </a:p>
          <a:p>
            <a:pPr>
              <a:spcAft>
                <a:spcPts val="600"/>
              </a:spcAft>
            </a:pPr>
            <a:r>
              <a:rPr sz="800">
                <a:solidFill>
                  <a:srgbClr val="334155"/>
                </a:solidFill>
              </a:rPr>
              <a:t>• Established core ethical privacy policy: Never store raw user facial images</a:t>
            </a:r>
          </a:p>
          <a:p>
            <a:pPr>
              <a:spcAft>
                <a:spcPts val="600"/>
              </a:spcAft>
            </a:pPr>
            <a:r>
              <a:rPr sz="800">
                <a:solidFill>
                  <a:srgbClr val="334155"/>
                </a:solidFill>
              </a:rPr>
              <a:t>• Designed randomized PRNG-based LSB steganography with CVS1 magic tag</a:t>
            </a:r>
          </a:p>
          <a:p>
            <a:pPr>
              <a:spcAft>
                <a:spcPts val="600"/>
              </a:spcAft>
            </a:pPr>
            <a:r>
              <a:rPr sz="800">
                <a:solidFill>
                  <a:srgbClr val="334155"/>
                </a:solidFill>
              </a:rPr>
              <a:t>• Created mathematical threat model for physical over-the-shoulder eavesdropping</a:t>
            </a:r>
          </a:p>
        </p:txBody>
      </p:sp>
      <p:sp>
        <p:nvSpPr>
          <p:cNvPr id="20" name="Rounded Rectangle 19"/>
          <p:cNvSpPr/>
          <p:nvPr/>
        </p:nvSpPr>
        <p:spPr>
          <a:xfrm>
            <a:off x="3456432" y="1234440"/>
            <a:ext cx="2578608" cy="51206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00">
                <a:solidFill>
                  <a:srgbClr val="0F172A"/>
                </a:solidFill>
              </a:rPr>
              <a:t>Phase 2: Core Engineering
</a:t>
            </a:r>
            <a:r>
              <a:rPr b="1" sz="800">
                <a:solidFill>
                  <a:srgbClr val="1D4ED8"/>
                </a:solidFill>
              </a:rPr>
              <a:t>[IMPLEMENTATION SPRINTS]
</a:t>
            </a:r>
          </a:p>
          <a:p>
            <a:pPr>
              <a:spcAft>
                <a:spcPts val="600"/>
              </a:spcAft>
            </a:pPr>
            <a:r>
              <a:rPr sz="800">
                <a:solidFill>
                  <a:srgbClr val="334155"/>
                </a:solidFill>
              </a:rPr>
              <a:t>• Sprint 1: Built FastAPI InspireFace microservice with 512-d embeddings</a:t>
            </a:r>
          </a:p>
          <a:p>
            <a:pPr>
              <a:spcAft>
                <a:spcPts val="600"/>
              </a:spcAft>
            </a:pPr>
            <a:r>
              <a:rPr sz="800">
                <a:solidFill>
                  <a:srgbClr val="334155"/>
                </a:solidFill>
              </a:rPr>
              <a:t>• Sprint 2: Built WebSocket instant chat hub &amp; Multer 25MB attachment streaming</a:t>
            </a:r>
          </a:p>
          <a:p>
            <a:pPr>
              <a:spcAft>
                <a:spcPts val="600"/>
              </a:spcAft>
            </a:pPr>
            <a:r>
              <a:rPr sz="800">
                <a:solidFill>
                  <a:srgbClr val="334155"/>
                </a:solidFill>
              </a:rPr>
              <a:t>• Sprint 3: Integrated WebCrypto AES-GCM + non-exportable IndexedDB keys</a:t>
            </a:r>
          </a:p>
          <a:p>
            <a:pPr>
              <a:spcAft>
                <a:spcPts val="600"/>
              </a:spcAft>
            </a:pPr>
            <a:r>
              <a:rPr sz="800">
                <a:solidFill>
                  <a:srgbClr val="334155"/>
                </a:solidFill>
              </a:rPr>
              <a:t>• Sprint 4: Implemented active camera surveillance loop &amp; 2s timeout aborts</a:t>
            </a:r>
          </a:p>
          <a:p>
            <a:pPr>
              <a:spcAft>
                <a:spcPts val="600"/>
              </a:spcAft>
            </a:pPr>
            <a:r>
              <a:rPr sz="800">
                <a:solidFill>
                  <a:srgbClr val="334155"/>
                </a:solidFill>
              </a:rPr>
              <a:t>• Engineered Express 5 single-port reverse proxy serving static Vite SPA</a:t>
            </a:r>
          </a:p>
          <a:p>
            <a:pPr>
              <a:spcAft>
                <a:spcPts val="600"/>
              </a:spcAft>
            </a:pPr>
            <a:r>
              <a:rPr sz="800">
                <a:solidFill>
                  <a:srgbClr val="334155"/>
                </a:solidFill>
              </a:rPr>
              <a:t>• Implemented real-time warning banners for multi-face and bystander detection</a:t>
            </a:r>
          </a:p>
        </p:txBody>
      </p:sp>
      <p:sp>
        <p:nvSpPr>
          <p:cNvPr id="21" name="Rounded Rectangle 20"/>
          <p:cNvSpPr/>
          <p:nvPr/>
        </p:nvSpPr>
        <p:spPr>
          <a:xfrm>
            <a:off x="6181344" y="1234440"/>
            <a:ext cx="2578608" cy="512064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00">
                <a:solidFill>
                  <a:srgbClr val="0F172A"/>
                </a:solidFill>
              </a:rPr>
              <a:t>Phase 3: Testing &amp; Hardening
</a:t>
            </a:r>
            <a:r>
              <a:rPr b="1" sz="800">
                <a:solidFill>
                  <a:srgbClr val="D97706"/>
                </a:solidFill>
              </a:rPr>
              <a:t>[VERIFICATION &amp; QA]
</a:t>
            </a:r>
          </a:p>
          <a:p>
            <a:pPr>
              <a:spcAft>
                <a:spcPts val="600"/>
              </a:spcAft>
            </a:pPr>
            <a:r>
              <a:rPr sz="800">
                <a:solidFill>
                  <a:srgbClr val="334155"/>
                </a:solidFill>
              </a:rPr>
              <a:t>• Executed 20 comprehensive test cases across 7 modules (100% Pass Rate)</a:t>
            </a:r>
          </a:p>
          <a:p>
            <a:pPr>
              <a:spcAft>
                <a:spcPts val="600"/>
              </a:spcAft>
            </a:pPr>
            <a:r>
              <a:rPr sz="800">
                <a:solidFill>
                  <a:srgbClr val="334155"/>
                </a:solidFill>
              </a:rPr>
              <a:t>• Validated mandatory single-face enrollment &amp; multi-face rejection (HTTP 422)</a:t>
            </a:r>
          </a:p>
          <a:p>
            <a:pPr>
              <a:spcAft>
                <a:spcPts val="600"/>
              </a:spcAft>
            </a:pPr>
            <a:r>
              <a:rPr sz="800">
                <a:solidFill>
                  <a:srgbClr val="334155"/>
                </a:solidFill>
              </a:rPr>
              <a:t>• Tested active camera surveillance loop: auto-conceals text within 1.5s</a:t>
            </a:r>
          </a:p>
          <a:p>
            <a:pPr>
              <a:spcAft>
                <a:spcPts val="600"/>
              </a:spcAft>
            </a:pPr>
            <a:r>
              <a:rPr sz="800">
                <a:solidFill>
                  <a:srgbClr val="334155"/>
                </a:solidFill>
              </a:rPr>
              <a:t>• Verified boundary limits: 25MB attachment quota &amp; 2,000ms AbortSignal timeouts</a:t>
            </a:r>
          </a:p>
          <a:p>
            <a:pPr>
              <a:spcAft>
                <a:spcPts val="600"/>
              </a:spcAft>
            </a:pPr>
            <a:r>
              <a:rPr sz="800">
                <a:solidFill>
                  <a:srgbClr val="334155"/>
                </a:solidFill>
              </a:rPr>
              <a:t>• Proved database ephemeral self-healing: restores clean original carrier PNG</a:t>
            </a:r>
          </a:p>
          <a:p>
            <a:pPr>
              <a:spcAft>
                <a:spcPts val="600"/>
              </a:spcAft>
            </a:pPr>
            <a:r>
              <a:rPr sz="800">
                <a:solidFill>
                  <a:srgbClr val="334155"/>
                </a:solidFill>
              </a:rPr>
              <a:t>• Validated zero plaintext exposure across network wire, database, and client</a:t>
            </a:r>
          </a:p>
        </p:txBody>
      </p:sp>
      <p:sp>
        <p:nvSpPr>
          <p:cNvPr id="22" name="Rounded Rectangle 21"/>
          <p:cNvSpPr/>
          <p:nvPr/>
        </p:nvSpPr>
        <p:spPr>
          <a:xfrm>
            <a:off x="8906256" y="1234440"/>
            <a:ext cx="2578608" cy="51206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200">
                <a:solidFill>
                  <a:srgbClr val="0F172A"/>
                </a:solidFill>
              </a:rPr>
              <a:t>Phase 4: Cloud Delivery
</a:t>
            </a:r>
            <a:r>
              <a:rPr b="1" sz="800">
                <a:solidFill>
                  <a:srgbClr val="059669"/>
                </a:solidFill>
              </a:rPr>
              <a:t>[PRODUCTION LAUNCH]
</a:t>
            </a:r>
          </a:p>
          <a:p>
            <a:pPr>
              <a:spcAft>
                <a:spcPts val="600"/>
              </a:spcAft>
            </a:pPr>
            <a:r>
              <a:rPr sz="800">
                <a:solidFill>
                  <a:srgbClr val="334155"/>
                </a:solidFill>
              </a:rPr>
              <a:t>• Successfully deployed live single-domain container service on Render PaaS</a:t>
            </a:r>
          </a:p>
          <a:p>
            <a:pPr>
              <a:spcAft>
                <a:spcPts val="600"/>
              </a:spcAft>
            </a:pPr>
            <a:r>
              <a:rPr sz="800">
                <a:solidFill>
                  <a:srgbClr val="334155"/>
                </a:solidFill>
              </a:rPr>
              <a:t>• Integrated Supabase PostgreSQL 16 cloud database with SSL connection pooling</a:t>
            </a:r>
          </a:p>
          <a:p>
            <a:pPr>
              <a:spcAft>
                <a:spcPts val="600"/>
              </a:spcAft>
            </a:pPr>
            <a:r>
              <a:rPr sz="800">
                <a:solidFill>
                  <a:srgbClr val="334155"/>
                </a:solidFill>
              </a:rPr>
              <a:t>• Configured automated CI/CD continuous deployment pipeline from GitHub main</a:t>
            </a:r>
          </a:p>
          <a:p>
            <a:pPr>
              <a:spcAft>
                <a:spcPts val="600"/>
              </a:spcAft>
            </a:pPr>
            <a:r>
              <a:rPr sz="800">
                <a:solidFill>
                  <a:srgbClr val="334155"/>
                </a:solidFill>
              </a:rPr>
              <a:t>• Achieved sub-80ms WebSocket delivery latency &amp; sub-70ms facial check</a:t>
            </a:r>
          </a:p>
          <a:p>
            <a:pPr>
              <a:spcAft>
                <a:spcPts val="600"/>
              </a:spcAft>
            </a:pPr>
            <a:r>
              <a:rPr sz="800">
                <a:solidFill>
                  <a:srgbClr val="334155"/>
                </a:solidFill>
              </a:rPr>
              <a:t>• Produced 8-page comprehensive master documentation PDF &amp; interactive deck</a:t>
            </a:r>
          </a:p>
          <a:p>
            <a:pPr>
              <a:spcAft>
                <a:spcPts val="600"/>
              </a:spcAft>
            </a:pPr>
            <a:r>
              <a:rPr sz="800">
                <a:solidFill>
                  <a:srgbClr val="334155"/>
                </a:solidFill>
              </a:rPr>
              <a:t>• Delivered fully functional, battle-tested solution ready for real-world adoption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Problem Statement &amp; The 'Last-Inch' Vulnerability Gap</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10728655" cy="1280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spcBef>
                <a:spcPts val="1600"/>
              </a:spcBef>
            </a:pPr>
            <a:r>
              <a:rPr i="1" sz="1000">
                <a:solidFill>
                  <a:srgbClr val="334155"/>
                </a:solidFill>
              </a:rPr>
              <a:t>"Design and engineer a real-time secure communication system that eliminates vulnerabilities in both data transmission and physical message presentation. The application must guarantee that confidential exchanges remain fully protected from over-the-shoulder eavesdropping, unauthorized physical device access, and persistent forensic extraction, while providing zero-knowledge verifiable privacy and high usability."</a:t>
            </a:r>
          </a:p>
        </p:txBody>
      </p:sp>
      <p:sp>
        <p:nvSpPr>
          <p:cNvPr id="20" name="TextBox 19"/>
          <p:cNvSpPr txBox="1"/>
          <p:nvPr/>
        </p:nvSpPr>
        <p:spPr>
          <a:xfrm>
            <a:off x="896112" y="1344168"/>
            <a:ext cx="10399471" cy="365760"/>
          </a:xfrm>
          <a:prstGeom prst="rect">
            <a:avLst/>
          </a:prstGeom>
          <a:noFill/>
        </p:spPr>
        <p:txBody>
          <a:bodyPr wrap="none">
            <a:spAutoFit/>
          </a:bodyPr>
          <a:lstStyle/>
          <a:p>
            <a:r>
              <a:rPr b="1" sz="1100">
                <a:solidFill>
                  <a:srgbClr val="0F766E"/>
                </a:solidFill>
              </a:rPr>
              <a:t>ORIGINAL PROBLEM STATEMENT ASSIGNED TO TEAM 65</a:t>
            </a:r>
          </a:p>
        </p:txBody>
      </p:sp>
      <p:sp>
        <p:nvSpPr>
          <p:cNvPr id="21" name="Rounded Rectangle 20"/>
          <p:cNvSpPr/>
          <p:nvPr/>
        </p:nvSpPr>
        <p:spPr>
          <a:xfrm>
            <a:off x="731520" y="2697480"/>
            <a:ext cx="5285232" cy="1783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2807208"/>
            <a:ext cx="4956048" cy="365760"/>
          </a:xfrm>
          <a:prstGeom prst="rect">
            <a:avLst/>
          </a:prstGeom>
          <a:noFill/>
        </p:spPr>
        <p:txBody>
          <a:bodyPr wrap="none">
            <a:spAutoFit/>
          </a:bodyPr>
          <a:lstStyle/>
          <a:p>
            <a:r>
              <a:rPr b="1" sz="1100">
                <a:solidFill>
                  <a:srgbClr val="0F172A"/>
                </a:solidFill>
              </a:rPr>
              <a:t>1. The 'Last-Inch' Presentation Vulnerability</a:t>
            </a:r>
            <a:r>
              <a:t>   </a:t>
            </a:r>
            <a:r>
              <a:rPr b="1" sz="750">
                <a:solidFill>
                  <a:srgbClr val="D97706"/>
                </a:solidFill>
              </a:rPr>
              <a:t> CRITICAL PRESENTATION FLAW </a:t>
            </a:r>
          </a:p>
        </p:txBody>
      </p:sp>
      <p:sp>
        <p:nvSpPr>
          <p:cNvPr id="23" name="TextBox 22"/>
          <p:cNvSpPr txBox="1"/>
          <p:nvPr/>
        </p:nvSpPr>
        <p:spPr>
          <a:xfrm>
            <a:off x="896112" y="3136392"/>
            <a:ext cx="4956048" cy="1234440"/>
          </a:xfrm>
          <a:prstGeom prst="rect">
            <a:avLst/>
          </a:prstGeom>
          <a:noFill/>
        </p:spPr>
        <p:txBody>
          <a:bodyPr wrap="square">
            <a:spAutoFit/>
          </a:bodyPr>
          <a:lstStyle/>
          <a:p>
            <a:r>
              <a:rPr sz="850">
                <a:solidFill>
                  <a:srgbClr val="334155"/>
                </a:solidFill>
              </a:rPr>
              <a:t>Conventional E2EE (Signal, WhatsApp) encrypts data in flight via TLS and Signal Protocol. However, the instant a message decrypts onto the recipient's screen, it exists in plain sight. In public environments—coffee shops, airports, shared offices, and public transit—shoulder surfers and bystanders compromise confidentiality completely.</a:t>
            </a:r>
          </a:p>
        </p:txBody>
      </p:sp>
      <p:sp>
        <p:nvSpPr>
          <p:cNvPr id="24" name="Rounded Rectangle 23"/>
          <p:cNvSpPr/>
          <p:nvPr/>
        </p:nvSpPr>
        <p:spPr>
          <a:xfrm>
            <a:off x="6172200" y="2697480"/>
            <a:ext cx="5285232" cy="1783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36792" y="2807208"/>
            <a:ext cx="4956048" cy="365760"/>
          </a:xfrm>
          <a:prstGeom prst="rect">
            <a:avLst/>
          </a:prstGeom>
          <a:noFill/>
        </p:spPr>
        <p:txBody>
          <a:bodyPr wrap="none">
            <a:spAutoFit/>
          </a:bodyPr>
          <a:lstStyle/>
          <a:p>
            <a:r>
              <a:rPr b="1" sz="1100">
                <a:solidFill>
                  <a:srgbClr val="0F172A"/>
                </a:solidFill>
              </a:rPr>
              <a:t>2. Static vs Continuous Active Authentication</a:t>
            </a:r>
            <a:r>
              <a:t>   </a:t>
            </a:r>
            <a:r>
              <a:rPr b="1" sz="750">
                <a:solidFill>
                  <a:srgbClr val="D97706"/>
                </a:solidFill>
              </a:rPr>
              <a:t> IDENTITY SESSION HIJACKING </a:t>
            </a:r>
          </a:p>
        </p:txBody>
      </p:sp>
      <p:sp>
        <p:nvSpPr>
          <p:cNvPr id="26" name="TextBox 25"/>
          <p:cNvSpPr txBox="1"/>
          <p:nvPr/>
        </p:nvSpPr>
        <p:spPr>
          <a:xfrm>
            <a:off x="6336792" y="3136392"/>
            <a:ext cx="4956048" cy="1234440"/>
          </a:xfrm>
          <a:prstGeom prst="rect">
            <a:avLst/>
          </a:prstGeom>
          <a:noFill/>
        </p:spPr>
        <p:txBody>
          <a:bodyPr wrap="square">
            <a:spAutoFit/>
          </a:bodyPr>
          <a:lstStyle/>
          <a:p>
            <a:r>
              <a:rPr sz="850">
                <a:solidFill>
                  <a:srgbClr val="334155"/>
                </a:solidFill>
              </a:rPr>
              <a:t>Modern operating systems and messaging apps authenticate biometrics (Face ID, Touch ID, PIN) only ONCE when launching the application. If an unlocked smartphone or laptop is left unattended on a desk, passed to a coworker, or snatched, any unauthorized person has unrestricted access to sensitive chats.</a:t>
            </a:r>
          </a:p>
        </p:txBody>
      </p:sp>
      <p:sp>
        <p:nvSpPr>
          <p:cNvPr id="27" name="Rounded Rectangle 26"/>
          <p:cNvSpPr/>
          <p:nvPr/>
        </p:nvSpPr>
        <p:spPr>
          <a:xfrm>
            <a:off x="731520" y="4617720"/>
            <a:ext cx="5285232" cy="1783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727448"/>
            <a:ext cx="4956048" cy="365760"/>
          </a:xfrm>
          <a:prstGeom prst="rect">
            <a:avLst/>
          </a:prstGeom>
          <a:noFill/>
        </p:spPr>
        <p:txBody>
          <a:bodyPr wrap="none">
            <a:spAutoFit/>
          </a:bodyPr>
          <a:lstStyle/>
          <a:p>
            <a:r>
              <a:rPr b="1" sz="1100">
                <a:solidFill>
                  <a:srgbClr val="0F172A"/>
                </a:solidFill>
              </a:rPr>
              <a:t>3. Persistent Forensic Media Residue &amp; Caches</a:t>
            </a:r>
            <a:r>
              <a:t>   </a:t>
            </a:r>
            <a:r>
              <a:rPr b="1" sz="750">
                <a:solidFill>
                  <a:srgbClr val="D97706"/>
                </a:solidFill>
              </a:rPr>
              <a:t> FORENSIC DATA LEAKAGE </a:t>
            </a:r>
          </a:p>
        </p:txBody>
      </p:sp>
      <p:sp>
        <p:nvSpPr>
          <p:cNvPr id="29" name="TextBox 28"/>
          <p:cNvSpPr txBox="1"/>
          <p:nvPr/>
        </p:nvSpPr>
        <p:spPr>
          <a:xfrm>
            <a:off x="896112" y="5056632"/>
            <a:ext cx="4956048" cy="1234440"/>
          </a:xfrm>
          <a:prstGeom prst="rect">
            <a:avLst/>
          </a:prstGeom>
          <a:noFill/>
        </p:spPr>
        <p:txBody>
          <a:bodyPr wrap="square">
            <a:spAutoFit/>
          </a:bodyPr>
          <a:lstStyle/>
          <a:p>
            <a:r>
              <a:rPr sz="850">
                <a:solidFill>
                  <a:srgbClr val="334155"/>
                </a:solidFill>
              </a:rPr>
              <a:t>Standard messaging apps write received attachments to local device flash storage, OS media caches, and SQLite databases. Even after 'deleting' messages or enabling disappearing timers, forensic extraction tools routinely recover sensitive image attachments and thumbnail artifacts from raw storage blocks.</a:t>
            </a:r>
          </a:p>
        </p:txBody>
      </p:sp>
      <p:sp>
        <p:nvSpPr>
          <p:cNvPr id="30" name="Rounded Rectangle 29"/>
          <p:cNvSpPr/>
          <p:nvPr/>
        </p:nvSpPr>
        <p:spPr>
          <a:xfrm>
            <a:off x="6172200" y="4617720"/>
            <a:ext cx="5285232" cy="1783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6792" y="4727448"/>
            <a:ext cx="4956048" cy="365760"/>
          </a:xfrm>
          <a:prstGeom prst="rect">
            <a:avLst/>
          </a:prstGeom>
          <a:noFill/>
        </p:spPr>
        <p:txBody>
          <a:bodyPr wrap="none">
            <a:spAutoFit/>
          </a:bodyPr>
          <a:lstStyle/>
          <a:p>
            <a:r>
              <a:rPr b="1" sz="1100">
                <a:solidFill>
                  <a:srgbClr val="0F172A"/>
                </a:solidFill>
              </a:rPr>
              <a:t>4. Traffic Observability &amp; Lack of Deniability</a:t>
            </a:r>
            <a:r>
              <a:t>   </a:t>
            </a:r>
            <a:r>
              <a:rPr b="1" sz="750">
                <a:solidFill>
                  <a:srgbClr val="D97706"/>
                </a:solidFill>
              </a:rPr>
              <a:t> TRAFFIC METADATA EXPOSURE </a:t>
            </a:r>
          </a:p>
        </p:txBody>
      </p:sp>
      <p:sp>
        <p:nvSpPr>
          <p:cNvPr id="32" name="TextBox 31"/>
          <p:cNvSpPr txBox="1"/>
          <p:nvPr/>
        </p:nvSpPr>
        <p:spPr>
          <a:xfrm>
            <a:off x="6336792" y="5056632"/>
            <a:ext cx="4956048" cy="1234440"/>
          </a:xfrm>
          <a:prstGeom prst="rect">
            <a:avLst/>
          </a:prstGeom>
          <a:noFill/>
        </p:spPr>
        <p:txBody>
          <a:bodyPr wrap="square">
            <a:spAutoFit/>
          </a:bodyPr>
          <a:lstStyle/>
          <a:p>
            <a:r>
              <a:rPr sz="850">
                <a:solidFill>
                  <a:srgbClr val="334155"/>
                </a:solidFill>
              </a:rPr>
              <a:t>Transmitting raw encrypted binary blocks openly alerts network firewalls, internet service providers (ISPs), and eavesdroppers that sensitive, confidential communication is taking place. Users completely lack plausible deniability without an innocuous, covert carrier mechanism.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Proposed Solution: Multi-Layered Zero-Trust Architecture</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2578608" cy="5120640"/>
          </a:xfrm>
          <a:prstGeom prst="roundRect">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50">
                <a:solidFill>
                  <a:srgbClr val="0F172A"/>
                </a:solidFill>
              </a:rPr>
              <a:t>AI Biometric Active Shield
</a:t>
            </a:r>
            <a:r>
              <a:rPr b="1" sz="750">
                <a:solidFill>
                  <a:srgbClr val="0F766E"/>
                </a:solidFill>
              </a:rPr>
              <a:t>[Continuous Vision Surveillance]
</a:t>
            </a:r>
          </a:p>
          <a:p>
            <a:pPr>
              <a:spcAft>
                <a:spcPts val="500"/>
              </a:spcAft>
            </a:pPr>
            <a:r>
              <a:rPr sz="780">
                <a:solidFill>
                  <a:srgbClr val="334155"/>
                </a:solidFill>
              </a:rPr>
              <a:t>• InspireFace Deep Learning Computer Vision SDK</a:t>
            </a:r>
          </a:p>
          <a:p>
            <a:pPr>
              <a:spcAft>
                <a:spcPts val="500"/>
              </a:spcAft>
            </a:pPr>
            <a:r>
              <a:rPr sz="780">
                <a:solidFill>
                  <a:srgbClr val="334155"/>
                </a:solidFill>
              </a:rPr>
              <a:t>• 512-dimensional normalized facial embedding vectors</a:t>
            </a:r>
          </a:p>
          <a:p>
            <a:pPr>
              <a:spcAft>
                <a:spcPts val="500"/>
              </a:spcAft>
            </a:pPr>
            <a:r>
              <a:rPr sz="780">
                <a:solidFill>
                  <a:srgbClr val="334155"/>
                </a:solidFill>
              </a:rPr>
              <a:t>• Real-time Cosine Similarity verification (&gt;= 0.70 threshold)</a:t>
            </a:r>
          </a:p>
          <a:p>
            <a:pPr>
              <a:spcAft>
                <a:spcPts val="500"/>
              </a:spcAft>
            </a:pPr>
            <a:r>
              <a:rPr sz="780">
                <a:solidFill>
                  <a:srgbClr val="334155"/>
                </a:solidFill>
              </a:rPr>
              <a:t>• Enforces exactly 1 human face present in frame at all times</a:t>
            </a:r>
          </a:p>
          <a:p>
            <a:pPr>
              <a:spcAft>
                <a:spcPts val="500"/>
              </a:spcAft>
            </a:pPr>
            <a:r>
              <a:rPr sz="780">
                <a:solidFill>
                  <a:srgbClr val="334155"/>
                </a:solidFill>
              </a:rPr>
              <a:t>• Continuous 1.5s background surveillance loop during viewing</a:t>
            </a:r>
          </a:p>
          <a:p>
            <a:pPr>
              <a:spcAft>
                <a:spcPts val="500"/>
              </a:spcAft>
            </a:pPr>
            <a:r>
              <a:rPr sz="780">
                <a:solidFill>
                  <a:srgbClr val="334155"/>
                </a:solidFill>
              </a:rPr>
              <a:t>• Auto-conceals message text instantly if viewer turns away</a:t>
            </a:r>
          </a:p>
          <a:p>
            <a:pPr>
              <a:spcAft>
                <a:spcPts val="500"/>
              </a:spcAft>
            </a:pPr>
            <a:r>
              <a:rPr sz="780">
                <a:solidFill>
                  <a:srgbClr val="334155"/>
                </a:solidFill>
              </a:rPr>
              <a:t>• Displays warning banner if secondary shoulder-surfer appears</a:t>
            </a:r>
          </a:p>
        </p:txBody>
      </p:sp>
      <p:sp>
        <p:nvSpPr>
          <p:cNvPr id="20" name="Rounded Rectangle 19"/>
          <p:cNvSpPr/>
          <p:nvPr/>
        </p:nvSpPr>
        <p:spPr>
          <a:xfrm>
            <a:off x="3456432" y="1234440"/>
            <a:ext cx="2578608" cy="51206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50">
                <a:solidFill>
                  <a:srgbClr val="0F172A"/>
                </a:solidFill>
              </a:rPr>
              <a:t>Randomized Steganography
</a:t>
            </a:r>
            <a:r>
              <a:rPr b="1" sz="750">
                <a:solidFill>
                  <a:srgbClr val="1D4ED8"/>
                </a:solidFill>
              </a:rPr>
              <a:t>[Plausible Deniability Carrier]
</a:t>
            </a:r>
          </a:p>
          <a:p>
            <a:pPr>
              <a:spcAft>
                <a:spcPts val="500"/>
              </a:spcAft>
            </a:pPr>
            <a:r>
              <a:rPr sz="780">
                <a:solidFill>
                  <a:srgbClr val="334155"/>
                </a:solidFill>
              </a:rPr>
              <a:t>• Disguises encrypted payloads inside ordinary lossless PNG images</a:t>
            </a:r>
          </a:p>
          <a:p>
            <a:pPr>
              <a:spcAft>
                <a:spcPts val="500"/>
              </a:spcAft>
            </a:pPr>
            <a:r>
              <a:rPr sz="780">
                <a:solidFill>
                  <a:srgbClr val="334155"/>
                </a:solidFill>
              </a:rPr>
              <a:t>• 24-byte custom header: CVS1 magic tag + 16-byte seed + 4-byte size</a:t>
            </a:r>
          </a:p>
          <a:p>
            <a:pPr>
              <a:spcAft>
                <a:spcPts val="500"/>
              </a:spcAft>
            </a:pPr>
            <a:r>
              <a:rPr sz="780">
                <a:solidFill>
                  <a:srgbClr val="334155"/>
                </a:solidFill>
              </a:rPr>
              <a:t>• 16-byte cryptographically secure random PRNG seed token</a:t>
            </a:r>
          </a:p>
          <a:p>
            <a:pPr>
              <a:spcAft>
                <a:spcPts val="500"/>
              </a:spcAft>
            </a:pPr>
            <a:r>
              <a:rPr sz="780">
                <a:solidFill>
                  <a:srgbClr val="334155"/>
                </a:solidFill>
              </a:rPr>
              <a:t>• Uniform pseudo-random pixel channel scattering across RGB</a:t>
            </a:r>
          </a:p>
          <a:p>
            <a:pPr>
              <a:spcAft>
                <a:spcPts val="500"/>
              </a:spcAft>
            </a:pPr>
            <a:r>
              <a:rPr sz="780">
                <a:solidFill>
                  <a:srgbClr val="334155"/>
                </a:solidFill>
              </a:rPr>
              <a:t>• Zero perceptible visual distortion in carrier image histograms</a:t>
            </a:r>
          </a:p>
          <a:p>
            <a:pPr>
              <a:spcAft>
                <a:spcPts val="500"/>
              </a:spcAft>
            </a:pPr>
            <a:r>
              <a:rPr sz="780">
                <a:solidFill>
                  <a:srgbClr val="334155"/>
                </a:solidFill>
              </a:rPr>
              <a:t>• Defeats automated statistical and visual steganalysis tools</a:t>
            </a:r>
          </a:p>
          <a:p>
            <a:pPr>
              <a:spcAft>
                <a:spcPts val="500"/>
              </a:spcAft>
            </a:pPr>
            <a:r>
              <a:rPr sz="780">
                <a:solidFill>
                  <a:srgbClr val="334155"/>
                </a:solidFill>
              </a:rPr>
              <a:t>• Provides plausible deniability against network payload sniffers</a:t>
            </a:r>
          </a:p>
        </p:txBody>
      </p:sp>
      <p:sp>
        <p:nvSpPr>
          <p:cNvPr id="21" name="Rounded Rectangle 20"/>
          <p:cNvSpPr/>
          <p:nvPr/>
        </p:nvSpPr>
        <p:spPr>
          <a:xfrm>
            <a:off x="6181344" y="1234440"/>
            <a:ext cx="2578608" cy="51206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50">
                <a:solidFill>
                  <a:srgbClr val="0F172A"/>
                </a:solidFill>
              </a:rPr>
              <a:t>Client-Side WebCrypto
</a:t>
            </a:r>
            <a:r>
              <a:rPr b="1" sz="750">
                <a:solidFill>
                  <a:srgbClr val="059669"/>
                </a:solidFill>
              </a:rPr>
              <a:t>[Zero-Knowledge Key Agreement]
</a:t>
            </a:r>
          </a:p>
          <a:p>
            <a:pPr>
              <a:spcAft>
                <a:spcPts val="500"/>
              </a:spcAft>
            </a:pPr>
            <a:r>
              <a:rPr sz="780">
                <a:solidFill>
                  <a:srgbClr val="334155"/>
                </a:solidFill>
              </a:rPr>
              <a:t>• Out-of-band mutual friendship passphrase agreed by peers</a:t>
            </a:r>
          </a:p>
          <a:p>
            <a:pPr>
              <a:spcAft>
                <a:spcPts val="500"/>
              </a:spcAft>
            </a:pPr>
            <a:r>
              <a:rPr sz="780">
                <a:solidFill>
                  <a:srgbClr val="334155"/>
                </a:solidFill>
              </a:rPr>
              <a:t>• Client WebCrypto API PBKDF2-SHA256 (100,000 iterations)</a:t>
            </a:r>
          </a:p>
          <a:p>
            <a:pPr>
              <a:spcAft>
                <a:spcPts val="500"/>
              </a:spcAft>
            </a:pPr>
            <a:r>
              <a:rPr sz="780">
                <a:solidFill>
                  <a:srgbClr val="334155"/>
                </a:solidFill>
              </a:rPr>
              <a:t>• AES-GCM-256 authenticated encryption with unique 12-byte IVs</a:t>
            </a:r>
          </a:p>
          <a:p>
            <a:pPr>
              <a:spcAft>
                <a:spcPts val="500"/>
              </a:spcAft>
            </a:pPr>
            <a:r>
              <a:rPr sz="780">
                <a:solidFill>
                  <a:srgbClr val="334155"/>
                </a:solidFill>
              </a:rPr>
              <a:t>• Derived keys stored as non-exportable CryptoKeys in IndexedDB</a:t>
            </a:r>
          </a:p>
          <a:p>
            <a:pPr>
              <a:spcAft>
                <a:spcPts val="500"/>
              </a:spcAft>
            </a:pPr>
            <a:r>
              <a:rPr sz="780">
                <a:solidFill>
                  <a:srgbClr val="334155"/>
                </a:solidFill>
              </a:rPr>
              <a:t>• Server receives only a salted verifier hash for verification</a:t>
            </a:r>
          </a:p>
          <a:p>
            <a:pPr>
              <a:spcAft>
                <a:spcPts val="500"/>
              </a:spcAft>
            </a:pPr>
            <a:r>
              <a:rPr sz="780">
                <a:solidFill>
                  <a:srgbClr val="334155"/>
                </a:solidFill>
              </a:rPr>
              <a:t>• Server never holds plaintext, passphrases, or encryption keys</a:t>
            </a:r>
          </a:p>
          <a:p>
            <a:pPr>
              <a:spcAft>
                <a:spcPts val="500"/>
              </a:spcAft>
            </a:pPr>
            <a:r>
              <a:rPr sz="780">
                <a:solidFill>
                  <a:srgbClr val="334155"/>
                </a:solidFill>
              </a:rPr>
              <a:t>• Protects communications even under total server compromise</a:t>
            </a:r>
          </a:p>
        </p:txBody>
      </p:sp>
      <p:sp>
        <p:nvSpPr>
          <p:cNvPr id="22" name="Rounded Rectangle 21"/>
          <p:cNvSpPr/>
          <p:nvPr/>
        </p:nvSpPr>
        <p:spPr>
          <a:xfrm>
            <a:off x="8906256" y="1234440"/>
            <a:ext cx="2578608" cy="51206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50">
                <a:solidFill>
                  <a:srgbClr val="0F172A"/>
                </a:solidFill>
              </a:rPr>
              <a:t>Forensic Self-Healing
</a:t>
            </a:r>
            <a:r>
              <a:rPr b="1" sz="750">
                <a:solidFill>
                  <a:srgbClr val="7C3AED"/>
                </a:solidFill>
              </a:rPr>
              <a:t>[Ephemeral Database Destruction]
</a:t>
            </a:r>
          </a:p>
          <a:p>
            <a:pPr>
              <a:spcAft>
                <a:spcPts val="500"/>
              </a:spcAft>
            </a:pPr>
            <a:r>
              <a:rPr sz="780">
                <a:solidFill>
                  <a:srgbClr val="334155"/>
                </a:solidFill>
              </a:rPr>
              <a:t>• One-time secure message decryption and viewing model</a:t>
            </a:r>
          </a:p>
          <a:p>
            <a:pPr>
              <a:spcAft>
                <a:spcPts val="500"/>
              </a:spcAft>
            </a:pPr>
            <a:r>
              <a:rPr sz="780">
                <a:solidFill>
                  <a:srgbClr val="334155"/>
                </a:solidFill>
              </a:rPr>
              <a:t>• Atomic PostgreSQL database transaction post-consumption</a:t>
            </a:r>
          </a:p>
          <a:p>
            <a:pPr>
              <a:spcAft>
                <a:spcPts val="500"/>
              </a:spcAft>
            </a:pPr>
            <a:r>
              <a:rPr sz="780">
                <a:solidFill>
                  <a:srgbClr val="334155"/>
                </a:solidFill>
              </a:rPr>
              <a:t>• Restores pristine original carrier PNG into attachments table</a:t>
            </a:r>
          </a:p>
          <a:p>
            <a:pPr>
              <a:spcAft>
                <a:spcPts val="500"/>
              </a:spcAft>
            </a:pPr>
            <a:r>
              <a:rPr sz="780">
                <a:solidFill>
                  <a:srgbClr val="334155"/>
                </a:solidFill>
              </a:rPr>
              <a:t>• Permanently nullifies and deletes stego recovery copies</a:t>
            </a:r>
          </a:p>
          <a:p>
            <a:pPr>
              <a:spcAft>
                <a:spcPts val="500"/>
              </a:spcAft>
            </a:pPr>
            <a:r>
              <a:rPr sz="780">
                <a:solidFill>
                  <a:srgbClr val="334155"/>
                </a:solidFill>
              </a:rPr>
              <a:t>• Leaves zero forensic traces of steganography on disk or DB</a:t>
            </a:r>
          </a:p>
          <a:p>
            <a:pPr>
              <a:spcAft>
                <a:spcPts val="500"/>
              </a:spcAft>
            </a:pPr>
            <a:r>
              <a:rPr sz="780">
                <a:solidFill>
                  <a:srgbClr val="334155"/>
                </a:solidFill>
              </a:rPr>
              <a:t>• Guarantees forward secrecy: destroyed messages cannot be recovered</a:t>
            </a:r>
          </a:p>
          <a:p>
            <a:pPr>
              <a:spcAft>
                <a:spcPts val="500"/>
              </a:spcAft>
            </a:pPr>
            <a:r>
              <a:rPr sz="780">
                <a:solidFill>
                  <a:srgbClr val="334155"/>
                </a:solidFill>
              </a:rPr>
              <a:t>• Combines physical viewing security with digital self-healing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Methodology: End-to-End System Workflow (8 Phases)</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2578608" cy="2331720"/>
          </a:xfrm>
          <a:prstGeom prst="roundRect">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0F766E"/>
                </a:solidFill>
              </a:rPr>
              <a:t>PHASE 01
</a:t>
            </a:r>
            <a:r>
              <a:rPr b="1" sz="1000">
                <a:solidFill>
                  <a:srgbClr val="0F172A"/>
                </a:solidFill>
              </a:rPr>
              <a:t>Registration &amp; Biometric Consent
</a:t>
            </a:r>
          </a:p>
          <a:p>
            <a:r>
              <a:rPr sz="780">
                <a:solidFill>
                  <a:srgbClr val="334155"/>
                </a:solidFill>
              </a:rPr>
              <a:t>User registers with email, password (bcrypt hashed), and camera capture. FastAPI executes InspireFace enrollment; exactly 1 face required. Generates 512-d template, encrypts via AES-256-GCM, stores in PostgreSQL face_biometrics. Raw photo is immediately purged.</a:t>
            </a:r>
          </a:p>
        </p:txBody>
      </p:sp>
      <p:sp>
        <p:nvSpPr>
          <p:cNvPr id="20" name="Rounded Rectangle 19"/>
          <p:cNvSpPr/>
          <p:nvPr/>
        </p:nvSpPr>
        <p:spPr>
          <a:xfrm>
            <a:off x="3456432" y="1234440"/>
            <a:ext cx="2578608" cy="2331720"/>
          </a:xfrm>
          <a:prstGeom prst="roundRect">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0F766E"/>
                </a:solidFill>
              </a:rPr>
              <a:t>PHASE 02
</a:t>
            </a:r>
            <a:r>
              <a:rPr b="1" sz="1000">
                <a:solidFill>
                  <a:srgbClr val="0F172A"/>
                </a:solidFill>
              </a:rPr>
              <a:t>Privacy Friendship Handshake
</a:t>
            </a:r>
          </a:p>
          <a:p>
            <a:r>
              <a:rPr sz="780">
                <a:solidFill>
                  <a:srgbClr val="334155"/>
                </a:solidFill>
              </a:rPr>
              <a:t>Users search for peers via unique 32-character User ID codes (user_id_code). Friend requests are exchanged and accepted. Once accepted, friends agree out-of-band on a shared passphrase, verified via salted PBKDF2 hash on the server.</a:t>
            </a:r>
          </a:p>
        </p:txBody>
      </p:sp>
      <p:sp>
        <p:nvSpPr>
          <p:cNvPr id="21" name="Rounded Rectangle 20"/>
          <p:cNvSpPr/>
          <p:nvPr/>
        </p:nvSpPr>
        <p:spPr>
          <a:xfrm>
            <a:off x="6181344" y="1234440"/>
            <a:ext cx="2578608" cy="2331720"/>
          </a:xfrm>
          <a:prstGeom prst="roundRect">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0F766E"/>
                </a:solidFill>
              </a:rPr>
              <a:t>PHASE 03
</a:t>
            </a:r>
            <a:r>
              <a:rPr b="1" sz="1000">
                <a:solidFill>
                  <a:srgbClr val="0F172A"/>
                </a:solidFill>
              </a:rPr>
              <a:t>Client WebCrypto Key Derivation
</a:t>
            </a:r>
          </a:p>
          <a:p>
            <a:r>
              <a:rPr sz="780">
                <a:solidFill>
                  <a:srgbClr val="334155"/>
                </a:solidFill>
              </a:rPr>
              <a:t>Client browser executes Web Crypto API subtle.deriveKey() using PBKDF2-SHA256 (100,000 iterations). Non-exportable AES-GCM 256-bit CryptoKey is stored securely in IndexedDB on the device. Plaintext passphrase is never saved.</a:t>
            </a:r>
          </a:p>
        </p:txBody>
      </p:sp>
      <p:sp>
        <p:nvSpPr>
          <p:cNvPr id="22" name="Rounded Rectangle 21"/>
          <p:cNvSpPr/>
          <p:nvPr/>
        </p:nvSpPr>
        <p:spPr>
          <a:xfrm>
            <a:off x="8906256" y="1234440"/>
            <a:ext cx="2578608" cy="2331720"/>
          </a:xfrm>
          <a:prstGeom prst="roundRect">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0F766E"/>
                </a:solidFill>
              </a:rPr>
              <a:t>PHASE 04
</a:t>
            </a:r>
            <a:r>
              <a:rPr b="1" sz="1000">
                <a:solidFill>
                  <a:srgbClr val="0F172A"/>
                </a:solidFill>
              </a:rPr>
              <a:t>Steganographic Carrier Encoding
</a:t>
            </a:r>
          </a:p>
          <a:p>
            <a:r>
              <a:rPr sz="780">
                <a:solidFill>
                  <a:srgbClr val="334155"/>
                </a:solidFill>
              </a:rPr>
              <a:t>Sender toggles 'Private image message', selects PNG and enters text. Text is encrypted with AES-GCM (12-byte IV). Payload is embedded into PNG via randomized LSB (stego/embed). Stego PNG and recovery original sent to server.</a:t>
            </a:r>
          </a:p>
        </p:txBody>
      </p:sp>
      <p:sp>
        <p:nvSpPr>
          <p:cNvPr id="23" name="Rounded Rectangle 22"/>
          <p:cNvSpPr/>
          <p:nvPr/>
        </p:nvSpPr>
        <p:spPr>
          <a:xfrm>
            <a:off x="731520" y="3703320"/>
            <a:ext cx="2578608" cy="2331720"/>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1D4ED8"/>
                </a:solidFill>
              </a:rPr>
              <a:t>PHASE 05
</a:t>
            </a:r>
            <a:r>
              <a:rPr b="1" sz="1000">
                <a:solidFill>
                  <a:srgbClr val="0F172A"/>
                </a:solidFill>
              </a:rPr>
              <a:t>Real-Time WebSocket Delivery
</a:t>
            </a:r>
          </a:p>
          <a:p>
            <a:r>
              <a:rPr sz="780">
                <a:solidFill>
                  <a:srgbClr val="334155"/>
                </a:solidFill>
              </a:rPr>
              <a:t>Node.js Express backend stores attachment BYTEA in PostgreSQL and broadcasts payload over WebSocket (ws://). Recipient UI updates instantaneously with the message card displaying the carrier image within 80ms.</a:t>
            </a:r>
          </a:p>
        </p:txBody>
      </p:sp>
      <p:sp>
        <p:nvSpPr>
          <p:cNvPr id="24" name="Rounded Rectangle 23"/>
          <p:cNvSpPr/>
          <p:nvPr/>
        </p:nvSpPr>
        <p:spPr>
          <a:xfrm>
            <a:off x="3456432" y="3703320"/>
            <a:ext cx="2578608" cy="2331720"/>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1D4ED8"/>
                </a:solidFill>
              </a:rPr>
              <a:t>PHASE 06
</a:t>
            </a:r>
            <a:r>
              <a:rPr b="1" sz="1000">
                <a:solidFill>
                  <a:srgbClr val="0F172A"/>
                </a:solidFill>
              </a:rPr>
              <a:t>Biometric Recipient Gating
</a:t>
            </a:r>
          </a:p>
          <a:p>
            <a:r>
              <a:rPr sz="780">
                <a:solidFill>
                  <a:srgbClr val="334155"/>
                </a:solidFill>
              </a:rPr>
              <a:t>Recipient clicks decrypt icon. WebRTC activates camera, transmits frame to POST /face/verify. AI validates cosine similarity &gt;= 0.70 and ensures face count == 1. Payload is extracted, decrypted via IndexedDB key, and revealed.</a:t>
            </a:r>
          </a:p>
        </p:txBody>
      </p:sp>
      <p:sp>
        <p:nvSpPr>
          <p:cNvPr id="25" name="Rounded Rectangle 24"/>
          <p:cNvSpPr/>
          <p:nvPr/>
        </p:nvSpPr>
        <p:spPr>
          <a:xfrm>
            <a:off x="6181344" y="3703320"/>
            <a:ext cx="2578608" cy="2331720"/>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1D4ED8"/>
                </a:solidFill>
              </a:rPr>
              <a:t>PHASE 07
</a:t>
            </a:r>
            <a:r>
              <a:rPr b="1" sz="1000">
                <a:solidFill>
                  <a:srgbClr val="0F172A"/>
                </a:solidFill>
              </a:rPr>
              <a:t>Active Surveillance Loop &amp; Timeout
</a:t>
            </a:r>
          </a:p>
          <a:p>
            <a:r>
              <a:rPr sz="780">
                <a:solidFill>
                  <a:srgbClr val="334155"/>
                </a:solidFill>
              </a:rPr>
              <a:t>Continuous verification loop samples video frames every 1,500ms with a 2,000ms AbortSignal timeout. If face count != 1 or cosine similarity falls below threshold, text is concealed immediately with an on-screen alert banner.</a:t>
            </a:r>
          </a:p>
        </p:txBody>
      </p:sp>
      <p:sp>
        <p:nvSpPr>
          <p:cNvPr id="26" name="Rounded Rectangle 25"/>
          <p:cNvSpPr/>
          <p:nvPr/>
        </p:nvSpPr>
        <p:spPr>
          <a:xfrm>
            <a:off x="8906256" y="3703320"/>
            <a:ext cx="2578608" cy="2331720"/>
          </a:xfrm>
          <a:prstGeom prst="roundRect">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850">
                <a:solidFill>
                  <a:srgbClr val="1D4ED8"/>
                </a:solidFill>
              </a:rPr>
              <a:t>PHASE 08
</a:t>
            </a:r>
            <a:r>
              <a:rPr b="1" sz="1000">
                <a:solidFill>
                  <a:srgbClr val="0F172A"/>
                </a:solidFill>
              </a:rPr>
              <a:t>Ephemeral Forensic Self-Healing
</a:t>
            </a:r>
          </a:p>
          <a:p>
            <a:r>
              <a:rPr sz="780">
                <a:solidFill>
                  <a:srgbClr val="334155"/>
                </a:solidFill>
              </a:rPr>
              <a:t>Database marks stego message consumed. PostgreSQL updates attachments table with the original clean PNG and nullifies original_png, permanently removing stego bytes and eliminating post-read forensic discovery.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System Architecture: Decoupled 4-Tier Cloud Architecture</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10728655" cy="1234440"/>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1344168"/>
            <a:ext cx="10399471" cy="365760"/>
          </a:xfrm>
          <a:prstGeom prst="rect">
            <a:avLst/>
          </a:prstGeom>
          <a:noFill/>
        </p:spPr>
        <p:txBody>
          <a:bodyPr wrap="none">
            <a:spAutoFit/>
          </a:bodyPr>
          <a:lstStyle/>
          <a:p>
            <a:r>
              <a:rPr b="1" sz="1100">
                <a:solidFill>
                  <a:srgbClr val="0F766E"/>
                </a:solidFill>
              </a:rPr>
              <a:t>TIER 1: PRESENTATION LAYER (React 19 + TypeScript + Vite + Tailwind CSS)</a:t>
            </a:r>
          </a:p>
        </p:txBody>
      </p:sp>
      <p:sp>
        <p:nvSpPr>
          <p:cNvPr id="21" name="TextBox 20"/>
          <p:cNvSpPr txBox="1"/>
          <p:nvPr/>
        </p:nvSpPr>
        <p:spPr>
          <a:xfrm>
            <a:off x="914400" y="1600200"/>
            <a:ext cx="10362895" cy="777240"/>
          </a:xfrm>
          <a:prstGeom prst="rect">
            <a:avLst/>
          </a:prstGeom>
          <a:noFill/>
        </p:spPr>
        <p:txBody>
          <a:bodyPr wrap="square">
            <a:spAutoFit/>
          </a:bodyPr>
          <a:lstStyle/>
          <a:p>
            <a:r>
              <a:rPr sz="850">
                <a:solidFill>
                  <a:srgbClr val="334155"/>
                </a:solidFill>
              </a:rPr>
              <a:t>• WebCrypto API: Client AES-GCM-256 derivation &amp; non-exportable IndexedDB key persistence | PBKDF2-SHA256 (100k rounds)
• WebRTC MediaStream: Hardware webcam feed capture &amp; active 1.5s background surveillance loop | AbortSignal 2s timeout protection
• WebSocket Client (ws://): Instant bidirectional message synchronization, typing broadcasts, online presence indicators &amp; error banners</a:t>
            </a:r>
          </a:p>
        </p:txBody>
      </p:sp>
      <p:sp>
        <p:nvSpPr>
          <p:cNvPr id="22" name="TextBox 21"/>
          <p:cNvSpPr txBox="1"/>
          <p:nvPr/>
        </p:nvSpPr>
        <p:spPr>
          <a:xfrm>
            <a:off x="4114800" y="2487168"/>
            <a:ext cx="3962095" cy="292608"/>
          </a:xfrm>
          <a:prstGeom prst="rect">
            <a:avLst/>
          </a:prstGeom>
          <a:noFill/>
        </p:spPr>
        <p:txBody>
          <a:bodyPr wrap="none">
            <a:spAutoFit/>
          </a:bodyPr>
          <a:lstStyle/>
          <a:p>
            <a:pPr algn="ctr"/>
            <a:r>
              <a:rPr b="1" sz="800">
                <a:solidFill>
                  <a:srgbClr val="0F766E"/>
                </a:solidFill>
              </a:rPr>
              <a:t>▼ RESTful HTTP JSON APIs &amp; Bi-Directional WebSockets (Port 443/5000) ▼</a:t>
            </a:r>
          </a:p>
        </p:txBody>
      </p:sp>
      <p:sp>
        <p:nvSpPr>
          <p:cNvPr id="23" name="Rounded Rectangle 22"/>
          <p:cNvSpPr/>
          <p:nvPr/>
        </p:nvSpPr>
        <p:spPr>
          <a:xfrm>
            <a:off x="731520" y="2788920"/>
            <a:ext cx="10728655" cy="1234440"/>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2898648"/>
            <a:ext cx="10399471" cy="365760"/>
          </a:xfrm>
          <a:prstGeom prst="rect">
            <a:avLst/>
          </a:prstGeom>
          <a:noFill/>
        </p:spPr>
        <p:txBody>
          <a:bodyPr wrap="none">
            <a:spAutoFit/>
          </a:bodyPr>
          <a:lstStyle/>
          <a:p>
            <a:r>
              <a:rPr b="1" sz="1100">
                <a:solidFill>
                  <a:srgbClr val="1D4ED8"/>
                </a:solidFill>
              </a:rPr>
              <a:t>TIER 2: GATEWAY &amp; APPLICATION SERVER (Node.js + Express 5)</a:t>
            </a:r>
          </a:p>
        </p:txBody>
      </p:sp>
      <p:sp>
        <p:nvSpPr>
          <p:cNvPr id="25" name="TextBox 24"/>
          <p:cNvSpPr txBox="1"/>
          <p:nvPr/>
        </p:nvSpPr>
        <p:spPr>
          <a:xfrm>
            <a:off x="914400" y="3154680"/>
            <a:ext cx="10362895" cy="777240"/>
          </a:xfrm>
          <a:prstGeom prst="rect">
            <a:avLst/>
          </a:prstGeom>
          <a:noFill/>
        </p:spPr>
        <p:txBody>
          <a:bodyPr wrap="square">
            <a:spAutoFit/>
          </a:bodyPr>
          <a:lstStyle/>
          <a:p>
            <a:r>
              <a:rPr sz="850">
                <a:solidFill>
                  <a:srgbClr val="334155"/>
                </a:solidFill>
              </a:rPr>
              <a:t>• Gateway &amp; Reverse Proxy: Serves Vite compiled SPA dist/ statically and handles catch-all SPA routing (/*splat)
• Security Middleware: JWT bearer authentication, bcrypt password verification (10 rounds), AES-256-GCM face template encryptor
• Data Handlers: Multer 25MB attachment streaming &amp; node-postgres (pg) connection pool with dynamic SSL for Supabase</a:t>
            </a:r>
          </a:p>
        </p:txBody>
      </p:sp>
      <p:sp>
        <p:nvSpPr>
          <p:cNvPr id="26" name="TextBox 25"/>
          <p:cNvSpPr txBox="1"/>
          <p:nvPr/>
        </p:nvSpPr>
        <p:spPr>
          <a:xfrm>
            <a:off x="1371600" y="4041648"/>
            <a:ext cx="3657600" cy="292608"/>
          </a:xfrm>
          <a:prstGeom prst="rect">
            <a:avLst/>
          </a:prstGeom>
          <a:noFill/>
        </p:spPr>
        <p:txBody>
          <a:bodyPr wrap="none">
            <a:spAutoFit/>
          </a:bodyPr>
          <a:lstStyle/>
          <a:p>
            <a:pPr algn="ctr"/>
            <a:r>
              <a:rPr b="1" sz="800">
                <a:solidFill>
                  <a:srgbClr val="64748B"/>
                </a:solidFill>
              </a:rPr>
              <a:t>▼ Internal HTTP Proxy (:8001) ▼</a:t>
            </a:r>
          </a:p>
        </p:txBody>
      </p:sp>
      <p:sp>
        <p:nvSpPr>
          <p:cNvPr id="27" name="TextBox 26"/>
          <p:cNvSpPr txBox="1"/>
          <p:nvPr/>
        </p:nvSpPr>
        <p:spPr>
          <a:xfrm>
            <a:off x="6858000" y="4041648"/>
            <a:ext cx="3657600" cy="292608"/>
          </a:xfrm>
          <a:prstGeom prst="rect">
            <a:avLst/>
          </a:prstGeom>
          <a:noFill/>
        </p:spPr>
        <p:txBody>
          <a:bodyPr wrap="none">
            <a:spAutoFit/>
          </a:bodyPr>
          <a:lstStyle/>
          <a:p>
            <a:pPr algn="ctr"/>
            <a:r>
              <a:rPr b="1" sz="800">
                <a:solidFill>
                  <a:srgbClr val="64748B"/>
                </a:solidFill>
              </a:rPr>
              <a:t>▼ Encrypted SSL TCP Pooler (:5432) ▼</a:t>
            </a:r>
          </a:p>
        </p:txBody>
      </p:sp>
      <p:sp>
        <p:nvSpPr>
          <p:cNvPr id="28" name="Rounded Rectangle 27"/>
          <p:cNvSpPr/>
          <p:nvPr/>
        </p:nvSpPr>
        <p:spPr>
          <a:xfrm>
            <a:off x="731520" y="4343400"/>
            <a:ext cx="5257800" cy="2011680"/>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4453128"/>
            <a:ext cx="4928616" cy="365760"/>
          </a:xfrm>
          <a:prstGeom prst="rect">
            <a:avLst/>
          </a:prstGeom>
          <a:noFill/>
        </p:spPr>
        <p:txBody>
          <a:bodyPr wrap="none">
            <a:spAutoFit/>
          </a:bodyPr>
          <a:lstStyle/>
          <a:p>
            <a:r>
              <a:rPr b="1" sz="1100">
                <a:solidFill>
                  <a:srgbClr val="059669"/>
                </a:solidFill>
              </a:rPr>
              <a:t>TIER 3: AI &amp; STEGO ENGINE (Python FastAPI)</a:t>
            </a:r>
          </a:p>
        </p:txBody>
      </p:sp>
      <p:sp>
        <p:nvSpPr>
          <p:cNvPr id="30" name="TextBox 29"/>
          <p:cNvSpPr txBox="1"/>
          <p:nvPr/>
        </p:nvSpPr>
        <p:spPr>
          <a:xfrm>
            <a:off x="914400" y="4709160"/>
            <a:ext cx="4892040" cy="1554480"/>
          </a:xfrm>
          <a:prstGeom prst="rect">
            <a:avLst/>
          </a:prstGeom>
          <a:noFill/>
        </p:spPr>
        <p:txBody>
          <a:bodyPr wrap="square">
            <a:spAutoFit/>
          </a:bodyPr>
          <a:lstStyle/>
          <a:p>
            <a:r>
              <a:rPr sz="800">
                <a:solidFill>
                  <a:srgbClr val="334155"/>
                </a:solidFill>
              </a:rPr>
              <a:t>• InspireFace SDK ('Pikachu' Model): Deep face detection &amp; alignment
• 512-d Embedding Extraction: High-dimension normalized vector creation
• Cosine Similarity Verification: Match score threshold &gt;= 0.70
• Session Locking (_session_lock): Thread-safe C-bindings execution
• Randomized LSB Engine: NumPy PRNG seeded bit dispersal across RGB</a:t>
            </a:r>
          </a:p>
        </p:txBody>
      </p:sp>
      <p:sp>
        <p:nvSpPr>
          <p:cNvPr id="31" name="Rounded Rectangle 30"/>
          <p:cNvSpPr/>
          <p:nvPr/>
        </p:nvSpPr>
        <p:spPr>
          <a:xfrm>
            <a:off x="6199632" y="4343400"/>
            <a:ext cx="5257800" cy="2011680"/>
          </a:xfrm>
          <a:prstGeom prst="roundRect">
            <a:avLst/>
          </a:prstGeom>
          <a:solidFill>
            <a:srgbClr val="FFFF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4453128"/>
            <a:ext cx="4928616" cy="365760"/>
          </a:xfrm>
          <a:prstGeom prst="rect">
            <a:avLst/>
          </a:prstGeom>
          <a:noFill/>
        </p:spPr>
        <p:txBody>
          <a:bodyPr wrap="none">
            <a:spAutoFit/>
          </a:bodyPr>
          <a:lstStyle/>
          <a:p>
            <a:r>
              <a:rPr b="1" sz="1100">
                <a:solidFill>
                  <a:srgbClr val="7C3AED"/>
                </a:solidFill>
              </a:rPr>
              <a:t>TIER 4: PERSISTENCE (PostgreSQL 16 Supabase)</a:t>
            </a:r>
          </a:p>
        </p:txBody>
      </p:sp>
      <p:sp>
        <p:nvSpPr>
          <p:cNvPr id="33" name="TextBox 32"/>
          <p:cNvSpPr txBox="1"/>
          <p:nvPr/>
        </p:nvSpPr>
        <p:spPr>
          <a:xfrm>
            <a:off x="6382512" y="4709160"/>
            <a:ext cx="4892040" cy="1554480"/>
          </a:xfrm>
          <a:prstGeom prst="rect">
            <a:avLst/>
          </a:prstGeom>
          <a:noFill/>
        </p:spPr>
        <p:txBody>
          <a:bodyPr wrap="square">
            <a:spAutoFit/>
          </a:bodyPr>
          <a:lstStyle/>
          <a:p>
            <a:r>
              <a:rPr sz="800">
                <a:solidFill>
                  <a:srgbClr val="334155"/>
                </a:solidFill>
              </a:rPr>
              <a:t>• users &amp; face_biometrics: Encrypted template ciphertexts + nonces
• friend_requests &amp; friendship_secrets: Salted PBKDF2 hash verifiers
• messages &amp; attachments: BYTEA binary blocks up to 25MB
• stego_messages: Ephemeral carrier recovery copies with CASCADE
• Ephemeral Cleanup Triggers: Atomic transactions for self-healing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Technologies, Frameworks &amp; Tooling Stack</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2578608" cy="5120640"/>
          </a:xfrm>
          <a:prstGeom prst="roundRect">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Frontend UI &amp; Client Security
</a:t>
            </a:r>
          </a:p>
          <a:p>
            <a:pPr>
              <a:spcAft>
                <a:spcPts val="500"/>
              </a:spcAft>
            </a:pPr>
            <a:r>
              <a:rPr b="1" sz="800">
                <a:solidFill>
                  <a:srgbClr val="0F766E"/>
                </a:solidFill>
              </a:rPr>
              <a:t>React 19 &amp; TypeScript
</a:t>
            </a:r>
            <a:r>
              <a:rPr sz="720">
                <a:solidFill>
                  <a:srgbClr val="334155"/>
                </a:solidFill>
              </a:rPr>
              <a:t>Component-based reactive SPA, strict type definitions, fast re-renders</a:t>
            </a:r>
          </a:p>
          <a:p>
            <a:pPr>
              <a:spcAft>
                <a:spcPts val="500"/>
              </a:spcAft>
            </a:pPr>
            <a:r>
              <a:rPr b="1" sz="800">
                <a:solidFill>
                  <a:srgbClr val="0F766E"/>
                </a:solidFill>
              </a:rPr>
              <a:t>Vite 8 Bundler
</a:t>
            </a:r>
            <a:r>
              <a:rPr sz="720">
                <a:solidFill>
                  <a:srgbClr val="334155"/>
                </a:solidFill>
              </a:rPr>
              <a:t>Modern ES module frontend tooling, optimized production minification</a:t>
            </a:r>
          </a:p>
          <a:p>
            <a:pPr>
              <a:spcAft>
                <a:spcPts val="500"/>
              </a:spcAft>
            </a:pPr>
            <a:r>
              <a:rPr b="1" sz="800">
                <a:solidFill>
                  <a:srgbClr val="0F766E"/>
                </a:solidFill>
              </a:rPr>
              <a:t>Tailwind CSS
</a:t>
            </a:r>
            <a:r>
              <a:rPr sz="720">
                <a:solidFill>
                  <a:srgbClr val="334155"/>
                </a:solidFill>
              </a:rPr>
              <a:t>Ergonomic responsive styling, dark/light theme support, accessible layout</a:t>
            </a:r>
          </a:p>
          <a:p>
            <a:pPr>
              <a:spcAft>
                <a:spcPts val="500"/>
              </a:spcAft>
            </a:pPr>
            <a:r>
              <a:rPr b="1" sz="800">
                <a:solidFill>
                  <a:srgbClr val="0F766E"/>
                </a:solidFill>
              </a:rPr>
              <a:t>Web Crypto API
</a:t>
            </a:r>
            <a:r>
              <a:rPr sz="720">
                <a:solidFill>
                  <a:srgbClr val="334155"/>
                </a:solidFill>
              </a:rPr>
              <a:t>Native browser PBKDF2-SHA256 key derivation &amp; AES-GCM-256 ciphers</a:t>
            </a:r>
          </a:p>
          <a:p>
            <a:pPr>
              <a:spcAft>
                <a:spcPts val="500"/>
              </a:spcAft>
            </a:pPr>
            <a:r>
              <a:rPr b="1" sz="800">
                <a:solidFill>
                  <a:srgbClr val="0F766E"/>
                </a:solidFill>
              </a:rPr>
              <a:t>IndexedDB API
</a:t>
            </a:r>
            <a:r>
              <a:rPr sz="720">
                <a:solidFill>
                  <a:srgbClr val="334155"/>
                </a:solidFill>
              </a:rPr>
              <a:t>Browser-isolated, non-exportable cryptographic key storage</a:t>
            </a:r>
          </a:p>
          <a:p>
            <a:pPr>
              <a:spcAft>
                <a:spcPts val="500"/>
              </a:spcAft>
            </a:pPr>
            <a:r>
              <a:rPr b="1" sz="800">
                <a:solidFill>
                  <a:srgbClr val="0F766E"/>
                </a:solidFill>
              </a:rPr>
              <a:t>HTML5 WebRTC
</a:t>
            </a:r>
            <a:r>
              <a:rPr sz="720">
                <a:solidFill>
                  <a:srgbClr val="334155"/>
                </a:solidFill>
              </a:rPr>
              <a:t>Real-time webcam MediaStream acquisition &amp; hardware video frame sampling</a:t>
            </a:r>
          </a:p>
          <a:p>
            <a:pPr>
              <a:spcAft>
                <a:spcPts val="500"/>
              </a:spcAft>
            </a:pPr>
            <a:r>
              <a:rPr b="1" sz="800">
                <a:solidFill>
                  <a:srgbClr val="0F766E"/>
                </a:solidFill>
              </a:rPr>
              <a:t>Lucide React Icons
</a:t>
            </a:r>
            <a:r>
              <a:rPr sz="720">
                <a:solidFill>
                  <a:srgbClr val="334155"/>
                </a:solidFill>
              </a:rPr>
              <a:t>Clean visual iconography for intuitive navigation and status indicators</a:t>
            </a:r>
          </a:p>
        </p:txBody>
      </p:sp>
      <p:sp>
        <p:nvSpPr>
          <p:cNvPr id="20" name="Rounded Rectangle 19"/>
          <p:cNvSpPr/>
          <p:nvPr/>
        </p:nvSpPr>
        <p:spPr>
          <a:xfrm>
            <a:off x="3456432" y="1234440"/>
            <a:ext cx="2578608" cy="5120640"/>
          </a:xfrm>
          <a:prstGeom prst="round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Backend &amp; Real-Time Gateway
</a:t>
            </a:r>
          </a:p>
          <a:p>
            <a:pPr>
              <a:spcAft>
                <a:spcPts val="500"/>
              </a:spcAft>
            </a:pPr>
            <a:r>
              <a:rPr b="1" sz="800">
                <a:solidFill>
                  <a:srgbClr val="1D4ED8"/>
                </a:solidFill>
              </a:rPr>
              <a:t>Node.js &amp; Express 5
</a:t>
            </a:r>
            <a:r>
              <a:rPr sz="720">
                <a:solidFill>
                  <a:srgbClr val="334155"/>
                </a:solidFill>
              </a:rPr>
              <a:t>Unified RESTful API server, middleware pipeline &amp; static SPA reverse proxy</a:t>
            </a:r>
          </a:p>
          <a:p>
            <a:pPr>
              <a:spcAft>
                <a:spcPts val="500"/>
              </a:spcAft>
            </a:pPr>
            <a:r>
              <a:rPr b="1" sz="800">
                <a:solidFill>
                  <a:srgbClr val="1D4ED8"/>
                </a:solidFill>
              </a:rPr>
              <a:t>WebSockets (`ws`)
</a:t>
            </a:r>
            <a:r>
              <a:rPr sz="720">
                <a:solidFill>
                  <a:srgbClr val="334155"/>
                </a:solidFill>
              </a:rPr>
              <a:t>Bi-directional real-time messaging, typing indicators &amp; presence state</a:t>
            </a:r>
          </a:p>
          <a:p>
            <a:pPr>
              <a:spcAft>
                <a:spcPts val="500"/>
              </a:spcAft>
            </a:pPr>
            <a:r>
              <a:rPr b="1" sz="800">
                <a:solidFill>
                  <a:srgbClr val="1D4ED8"/>
                </a:solidFill>
              </a:rPr>
              <a:t>JSON Web Tokens (JWT)
</a:t>
            </a:r>
            <a:r>
              <a:rPr sz="720">
                <a:solidFill>
                  <a:srgbClr val="334155"/>
                </a:solidFill>
              </a:rPr>
              <a:t>Stateless, digitally signed bearer session token authentication</a:t>
            </a:r>
          </a:p>
          <a:p>
            <a:pPr>
              <a:spcAft>
                <a:spcPts val="500"/>
              </a:spcAft>
            </a:pPr>
            <a:r>
              <a:rPr b="1" sz="800">
                <a:solidFill>
                  <a:srgbClr val="1D4ED8"/>
                </a:solidFill>
              </a:rPr>
              <a:t>bcrypt (10 rounds)
</a:t>
            </a:r>
            <a:r>
              <a:rPr sz="720">
                <a:solidFill>
                  <a:srgbClr val="334155"/>
                </a:solidFill>
              </a:rPr>
              <a:t>Cryptographic salted password hashing resisting brute-force attacks</a:t>
            </a:r>
          </a:p>
          <a:p>
            <a:pPr>
              <a:spcAft>
                <a:spcPts val="500"/>
              </a:spcAft>
            </a:pPr>
            <a:r>
              <a:rPr b="1" sz="800">
                <a:solidFill>
                  <a:srgbClr val="1D4ED8"/>
                </a:solidFill>
              </a:rPr>
              <a:t>Multer Middleware
</a:t>
            </a:r>
            <a:r>
              <a:rPr sz="720">
                <a:solidFill>
                  <a:srgbClr val="334155"/>
                </a:solidFill>
              </a:rPr>
              <a:t>Memory-buffered multipart attachment handling supporting files up to 25MB</a:t>
            </a:r>
          </a:p>
          <a:p>
            <a:pPr>
              <a:spcAft>
                <a:spcPts val="500"/>
              </a:spcAft>
            </a:pPr>
            <a:r>
              <a:rPr b="1" sz="800">
                <a:solidFill>
                  <a:srgbClr val="1D4ED8"/>
                </a:solidFill>
              </a:rPr>
              <a:t>node-postgres (`pg`)
</a:t>
            </a:r>
            <a:r>
              <a:rPr sz="720">
                <a:solidFill>
                  <a:srgbClr val="334155"/>
                </a:solidFill>
              </a:rPr>
              <a:t>High-performance connection pool with dynamic SSL certificate handling</a:t>
            </a:r>
          </a:p>
        </p:txBody>
      </p:sp>
      <p:sp>
        <p:nvSpPr>
          <p:cNvPr id="21" name="Rounded Rectangle 20"/>
          <p:cNvSpPr/>
          <p:nvPr/>
        </p:nvSpPr>
        <p:spPr>
          <a:xfrm>
            <a:off x="6181344" y="1234440"/>
            <a:ext cx="2578608" cy="51206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AI Vision &amp; Steganography
</a:t>
            </a:r>
          </a:p>
          <a:p>
            <a:pPr>
              <a:spcAft>
                <a:spcPts val="500"/>
              </a:spcAft>
            </a:pPr>
            <a:r>
              <a:rPr b="1" sz="800">
                <a:solidFill>
                  <a:srgbClr val="059669"/>
                </a:solidFill>
              </a:rPr>
              <a:t>Python 3.12 &amp; FastAPI
</a:t>
            </a:r>
            <a:r>
              <a:rPr sz="720">
                <a:solidFill>
                  <a:srgbClr val="334155"/>
                </a:solidFill>
              </a:rPr>
              <a:t>Asynchronous, high-throughput microservice for AI computation</a:t>
            </a:r>
          </a:p>
          <a:p>
            <a:pPr>
              <a:spcAft>
                <a:spcPts val="500"/>
              </a:spcAft>
            </a:pPr>
            <a:r>
              <a:rPr b="1" sz="800">
                <a:solidFill>
                  <a:srgbClr val="059669"/>
                </a:solidFill>
              </a:rPr>
              <a:t>InspireFace SDK
</a:t>
            </a:r>
            <a:r>
              <a:rPr sz="720">
                <a:solidFill>
                  <a:srgbClr val="334155"/>
                </a:solidFill>
              </a:rPr>
              <a:t>State-of-the-art deep facial recognition &amp; 512-d feature extraction</a:t>
            </a:r>
          </a:p>
          <a:p>
            <a:pPr>
              <a:spcAft>
                <a:spcPts val="500"/>
              </a:spcAft>
            </a:pPr>
            <a:r>
              <a:rPr b="1" sz="800">
                <a:solidFill>
                  <a:srgbClr val="059669"/>
                </a:solidFill>
              </a:rPr>
              <a:t>OpenCV (`cv2`)
</a:t>
            </a:r>
            <a:r>
              <a:rPr sz="720">
                <a:solidFill>
                  <a:srgbClr val="334155"/>
                </a:solidFill>
              </a:rPr>
              <a:t>Raw frame matrix decoding, color space transformation &amp; alignment</a:t>
            </a:r>
          </a:p>
          <a:p>
            <a:pPr>
              <a:spcAft>
                <a:spcPts val="500"/>
              </a:spcAft>
            </a:pPr>
            <a:r>
              <a:rPr b="1" sz="800">
                <a:solidFill>
                  <a:srgbClr val="059669"/>
                </a:solidFill>
              </a:rPr>
              <a:t>NumPy 2.4
</a:t>
            </a:r>
            <a:r>
              <a:rPr sz="720">
                <a:solidFill>
                  <a:srgbClr val="334155"/>
                </a:solidFill>
              </a:rPr>
              <a:t>Vectorized array manipulation &amp; PRNG bit scattering across RGB channels</a:t>
            </a:r>
          </a:p>
          <a:p>
            <a:pPr>
              <a:spcAft>
                <a:spcPts val="500"/>
              </a:spcAft>
            </a:pPr>
            <a:r>
              <a:rPr b="1" sz="800">
                <a:solidFill>
                  <a:srgbClr val="059669"/>
                </a:solidFill>
              </a:rPr>
              <a:t>Pillow (`PIL`)
</a:t>
            </a:r>
            <a:r>
              <a:rPr sz="720">
                <a:solidFill>
                  <a:srgbClr val="334155"/>
                </a:solidFill>
              </a:rPr>
              <a:t>Lossless RGB PNG image encoding, decoding &amp; dimension verification</a:t>
            </a:r>
          </a:p>
          <a:p>
            <a:pPr>
              <a:spcAft>
                <a:spcPts val="500"/>
              </a:spcAft>
            </a:pPr>
            <a:r>
              <a:rPr b="1" sz="800">
                <a:solidFill>
                  <a:srgbClr val="059669"/>
                </a:solidFill>
              </a:rPr>
              <a:t>Python Secrets
</a:t>
            </a:r>
            <a:r>
              <a:rPr sz="720">
                <a:solidFill>
                  <a:srgbClr val="334155"/>
                </a:solidFill>
              </a:rPr>
              <a:t>Cryptographically secure 16-byte PRNG token generation for stego seeds</a:t>
            </a:r>
          </a:p>
        </p:txBody>
      </p:sp>
      <p:sp>
        <p:nvSpPr>
          <p:cNvPr id="22" name="Rounded Rectangle 21"/>
          <p:cNvSpPr/>
          <p:nvPr/>
        </p:nvSpPr>
        <p:spPr>
          <a:xfrm>
            <a:off x="8906256" y="1234440"/>
            <a:ext cx="2578608" cy="51206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F172A"/>
                </a:solidFill>
              </a:rPr>
              <a:t>Database, Cloud &amp; DevOps
</a:t>
            </a:r>
          </a:p>
          <a:p>
            <a:pPr>
              <a:spcAft>
                <a:spcPts val="500"/>
              </a:spcAft>
            </a:pPr>
            <a:r>
              <a:rPr b="1" sz="800">
                <a:solidFill>
                  <a:srgbClr val="7C3AED"/>
                </a:solidFill>
              </a:rPr>
              <a:t>PostgreSQL 16
</a:t>
            </a:r>
            <a:r>
              <a:rPr sz="720">
                <a:solidFill>
                  <a:srgbClr val="334155"/>
                </a:solidFill>
              </a:rPr>
              <a:t>ACID-compliant relational database with binary BYTEA storage</a:t>
            </a:r>
          </a:p>
          <a:p>
            <a:pPr>
              <a:spcAft>
                <a:spcPts val="500"/>
              </a:spcAft>
            </a:pPr>
            <a:r>
              <a:rPr b="1" sz="800">
                <a:solidFill>
                  <a:srgbClr val="7C3AED"/>
                </a:solidFill>
              </a:rPr>
              <a:t>Supabase Managed DB
</a:t>
            </a:r>
            <a:r>
              <a:rPr sz="720">
                <a:solidFill>
                  <a:srgbClr val="334155"/>
                </a:solidFill>
              </a:rPr>
              <a:t>Cloud-hosted managed database with transaction pooler support</a:t>
            </a:r>
          </a:p>
          <a:p>
            <a:pPr>
              <a:spcAft>
                <a:spcPts val="500"/>
              </a:spcAft>
            </a:pPr>
            <a:r>
              <a:rPr b="1" sz="800">
                <a:solidFill>
                  <a:srgbClr val="7C3AED"/>
                </a:solidFill>
              </a:rPr>
              <a:t>Render PaaS
</a:t>
            </a:r>
            <a:r>
              <a:rPr sz="720">
                <a:solidFill>
                  <a:srgbClr val="334155"/>
                </a:solidFill>
              </a:rPr>
              <a:t>Containerized single-domain cloud hosting with automated builds</a:t>
            </a:r>
          </a:p>
          <a:p>
            <a:pPr>
              <a:spcAft>
                <a:spcPts val="500"/>
              </a:spcAft>
            </a:pPr>
            <a:r>
              <a:rPr b="1" sz="800">
                <a:solidFill>
                  <a:srgbClr val="7C3AED"/>
                </a:solidFill>
              </a:rPr>
              <a:t>Git &amp; GitHub
</a:t>
            </a:r>
            <a:r>
              <a:rPr sz="720">
                <a:solidFill>
                  <a:srgbClr val="334155"/>
                </a:solidFill>
              </a:rPr>
              <a:t>Distributed version control, branch isolation, and deployment hooks</a:t>
            </a:r>
          </a:p>
          <a:p>
            <a:pPr>
              <a:spcAft>
                <a:spcPts val="500"/>
              </a:spcAft>
            </a:pPr>
            <a:r>
              <a:rPr b="1" sz="800">
                <a:solidFill>
                  <a:srgbClr val="7C3AED"/>
                </a:solidFill>
              </a:rPr>
              <a:t>ReportLab &amp; PyMuPDF
</a:t>
            </a:r>
            <a:r>
              <a:rPr sz="720">
                <a:solidFill>
                  <a:srgbClr val="334155"/>
                </a:solidFill>
              </a:rPr>
              <a:t>Automated publication-grade PDF generation with dynamic page numbering</a:t>
            </a:r>
          </a:p>
          <a:p>
            <a:pPr>
              <a:spcAft>
                <a:spcPts val="500"/>
              </a:spcAft>
            </a:pPr>
            <a:r>
              <a:rPr b="1" sz="800">
                <a:solidFill>
                  <a:srgbClr val="7C3AED"/>
                </a:solidFill>
              </a:rPr>
              <a:t>python-pptx
</a:t>
            </a:r>
            <a:r>
              <a:rPr sz="720">
                <a:solidFill>
                  <a:srgbClr val="334155"/>
                </a:solidFill>
              </a:rPr>
              <a:t>Automated widescreen interactive presentation generation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Phase 2 Implementation: 5 Core Engineering Features</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1344168"/>
            <a:ext cx="10399471" cy="365760"/>
          </a:xfrm>
          <a:prstGeom prst="rect">
            <a:avLst/>
          </a:prstGeom>
          <a:noFill/>
        </p:spPr>
        <p:txBody>
          <a:bodyPr wrap="none">
            <a:spAutoFit/>
          </a:bodyPr>
          <a:lstStyle/>
          <a:p>
            <a:r>
              <a:rPr b="1" sz="1100">
                <a:solidFill>
                  <a:srgbClr val="0F172A"/>
                </a:solidFill>
              </a:rPr>
              <a:t>Feature 1: Zero-Knowledge Biometric Enrollment</a:t>
            </a:r>
            <a:r>
              <a:t>   </a:t>
            </a:r>
            <a:r>
              <a:rPr b="1" sz="750">
                <a:solidFill>
                  <a:srgbClr val="0F766E"/>
                </a:solidFill>
              </a:rPr>
              <a:t> BIOMETRIC PRIVACY </a:t>
            </a:r>
          </a:p>
        </p:txBody>
      </p:sp>
      <p:sp>
        <p:nvSpPr>
          <p:cNvPr id="21" name="TextBox 20"/>
          <p:cNvSpPr txBox="1"/>
          <p:nvPr/>
        </p:nvSpPr>
        <p:spPr>
          <a:xfrm>
            <a:off x="914400" y="1581912"/>
            <a:ext cx="10362895" cy="530352"/>
          </a:xfrm>
          <a:prstGeom prst="rect">
            <a:avLst/>
          </a:prstGeom>
          <a:noFill/>
        </p:spPr>
        <p:txBody>
          <a:bodyPr wrap="square">
            <a:spAutoFit/>
          </a:bodyPr>
          <a:lstStyle/>
          <a:p>
            <a:r>
              <a:rPr sz="830">
                <a:solidFill>
                  <a:srgbClr val="334155"/>
                </a:solidFill>
              </a:rPr>
              <a:t>Mandatory registration captures exactly 1 face using InspireFace. Extracts 512-d normalized floating point embeddings. The Node.js backend encrypts the vector with AES-256-GCM using FACE_ENCRYPTION_KEY before database insertion. The raw user photo is purged from memory immediately—never stored on disk or logged.</a:t>
            </a:r>
          </a:p>
        </p:txBody>
      </p:sp>
      <p:sp>
        <p:nvSpPr>
          <p:cNvPr id="22" name="Rounded Rectangle 21"/>
          <p:cNvSpPr/>
          <p:nvPr/>
        </p:nvSpPr>
        <p:spPr>
          <a:xfrm>
            <a:off x="731520" y="2258568"/>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2368296"/>
            <a:ext cx="10399471" cy="365760"/>
          </a:xfrm>
          <a:prstGeom prst="rect">
            <a:avLst/>
          </a:prstGeom>
          <a:noFill/>
        </p:spPr>
        <p:txBody>
          <a:bodyPr wrap="none">
            <a:spAutoFit/>
          </a:bodyPr>
          <a:lstStyle/>
          <a:p>
            <a:r>
              <a:rPr b="1" sz="1100">
                <a:solidFill>
                  <a:srgbClr val="0F172A"/>
                </a:solidFill>
              </a:rPr>
              <a:t>Feature 2: Randomized LSB Steganography Engine</a:t>
            </a:r>
            <a:r>
              <a:t>   </a:t>
            </a:r>
            <a:r>
              <a:rPr b="1" sz="750">
                <a:solidFill>
                  <a:srgbClr val="1D4ED8"/>
                </a:solidFill>
              </a:rPr>
              <a:t> COVERT TRANSPORT </a:t>
            </a:r>
          </a:p>
        </p:txBody>
      </p:sp>
      <p:sp>
        <p:nvSpPr>
          <p:cNvPr id="24" name="TextBox 23"/>
          <p:cNvSpPr txBox="1"/>
          <p:nvPr/>
        </p:nvSpPr>
        <p:spPr>
          <a:xfrm>
            <a:off x="914400" y="2606040"/>
            <a:ext cx="10362895" cy="530352"/>
          </a:xfrm>
          <a:prstGeom prst="rect">
            <a:avLst/>
          </a:prstGeom>
          <a:noFill/>
        </p:spPr>
        <p:txBody>
          <a:bodyPr wrap="square">
            <a:spAutoFit/>
          </a:bodyPr>
          <a:lstStyle/>
          <a:p>
            <a:r>
              <a:rPr sz="830">
                <a:solidFill>
                  <a:srgbClr val="334155"/>
                </a:solidFill>
              </a:rPr>
              <a:t>Disguises encrypted secret text into lossless PNG carriers. Writes a 24-byte header (CVS1 magic tag, 16-byte random PRNG seed, 4-byte payload size) into initial pixels, then scatters encrypted bits randomly across RGB channels via NumPy default_rng. Resulting image exhibits zero perceptible visual degradation or histogram anomalies.</a:t>
            </a:r>
          </a:p>
        </p:txBody>
      </p:sp>
      <p:sp>
        <p:nvSpPr>
          <p:cNvPr id="25" name="Rounded Rectangle 24"/>
          <p:cNvSpPr/>
          <p:nvPr/>
        </p:nvSpPr>
        <p:spPr>
          <a:xfrm>
            <a:off x="731520" y="3282696"/>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392424"/>
            <a:ext cx="10399471" cy="365760"/>
          </a:xfrm>
          <a:prstGeom prst="rect">
            <a:avLst/>
          </a:prstGeom>
          <a:noFill/>
        </p:spPr>
        <p:txBody>
          <a:bodyPr wrap="none">
            <a:spAutoFit/>
          </a:bodyPr>
          <a:lstStyle/>
          <a:p>
            <a:r>
              <a:rPr b="1" sz="1100">
                <a:solidFill>
                  <a:srgbClr val="0F172A"/>
                </a:solidFill>
              </a:rPr>
              <a:t>Feature 3: Active Face Guardian Surveillance Loop</a:t>
            </a:r>
            <a:r>
              <a:t>   </a:t>
            </a:r>
            <a:r>
              <a:rPr b="1" sz="750">
                <a:solidFill>
                  <a:srgbClr val="059669"/>
                </a:solidFill>
              </a:rPr>
              <a:t> PHYSICAL SHIELD </a:t>
            </a:r>
          </a:p>
        </p:txBody>
      </p:sp>
      <p:sp>
        <p:nvSpPr>
          <p:cNvPr id="27" name="TextBox 26"/>
          <p:cNvSpPr txBox="1"/>
          <p:nvPr/>
        </p:nvSpPr>
        <p:spPr>
          <a:xfrm>
            <a:off x="914400" y="3630168"/>
            <a:ext cx="10362895" cy="530352"/>
          </a:xfrm>
          <a:prstGeom prst="rect">
            <a:avLst/>
          </a:prstGeom>
          <a:noFill/>
        </p:spPr>
        <p:txBody>
          <a:bodyPr wrap="square">
            <a:spAutoFit/>
          </a:bodyPr>
          <a:lstStyle/>
          <a:p>
            <a:r>
              <a:rPr sz="830">
                <a:solidFill>
                  <a:srgbClr val="334155"/>
                </a:solidFill>
              </a:rPr>
              <a:t>Decryption activates recipient webcam. The AI verifies identity against enrolled template (cosine &gt;= 0.70) and guarantees exactly 1 face. A continuous surveillance loop checks the viewer every 1.5s with a 2s AbortSignal timeout. If the user turns away or a second face appears, text is auto-concealed immediately.</a:t>
            </a:r>
          </a:p>
        </p:txBody>
      </p:sp>
      <p:sp>
        <p:nvSpPr>
          <p:cNvPr id="28" name="Rounded Rectangle 27"/>
          <p:cNvSpPr/>
          <p:nvPr/>
        </p:nvSpPr>
        <p:spPr>
          <a:xfrm>
            <a:off x="731520" y="4306824"/>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4416552"/>
            <a:ext cx="10399471" cy="365760"/>
          </a:xfrm>
          <a:prstGeom prst="rect">
            <a:avLst/>
          </a:prstGeom>
          <a:noFill/>
        </p:spPr>
        <p:txBody>
          <a:bodyPr wrap="none">
            <a:spAutoFit/>
          </a:bodyPr>
          <a:lstStyle/>
          <a:p>
            <a:r>
              <a:rPr b="1" sz="1100">
                <a:solidFill>
                  <a:srgbClr val="0F172A"/>
                </a:solidFill>
              </a:rPr>
              <a:t>Feature 4: Single-Port Cloud Bundling on Render</a:t>
            </a:r>
            <a:r>
              <a:t>   </a:t>
            </a:r>
            <a:r>
              <a:rPr b="1" sz="750">
                <a:solidFill>
                  <a:srgbClr val="D97706"/>
                </a:solidFill>
              </a:rPr>
              <a:t> CLOUD DEVOPS </a:t>
            </a:r>
          </a:p>
        </p:txBody>
      </p:sp>
      <p:sp>
        <p:nvSpPr>
          <p:cNvPr id="30" name="TextBox 29"/>
          <p:cNvSpPr txBox="1"/>
          <p:nvPr/>
        </p:nvSpPr>
        <p:spPr>
          <a:xfrm>
            <a:off x="914400" y="4654296"/>
            <a:ext cx="10362895" cy="530352"/>
          </a:xfrm>
          <a:prstGeom prst="rect">
            <a:avLst/>
          </a:prstGeom>
          <a:noFill/>
        </p:spPr>
        <p:txBody>
          <a:bodyPr wrap="square">
            <a:spAutoFit/>
          </a:bodyPr>
          <a:lstStyle/>
          <a:p>
            <a:r>
              <a:rPr sz="830">
                <a:solidFill>
                  <a:srgbClr val="334155"/>
                </a:solidFill>
              </a:rPr>
              <a:t>Cloud PaaS provides only one public port ($PORT). Team Veltrox engineered a root build script compiling Vite SPA and Express server into a unified artifact. Express 5 acts as reverse proxy, serving React statically from dist/ and handling catch-all SPA routing seamlessly while hosting WebSockets.</a:t>
            </a:r>
          </a:p>
        </p:txBody>
      </p:sp>
      <p:sp>
        <p:nvSpPr>
          <p:cNvPr id="31" name="Rounded Rectangle 30"/>
          <p:cNvSpPr/>
          <p:nvPr/>
        </p:nvSpPr>
        <p:spPr>
          <a:xfrm>
            <a:off x="731520" y="5330952"/>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440680"/>
            <a:ext cx="10399471" cy="365760"/>
          </a:xfrm>
          <a:prstGeom prst="rect">
            <a:avLst/>
          </a:prstGeom>
          <a:noFill/>
        </p:spPr>
        <p:txBody>
          <a:bodyPr wrap="none">
            <a:spAutoFit/>
          </a:bodyPr>
          <a:lstStyle/>
          <a:p>
            <a:r>
              <a:rPr b="1" sz="1100">
                <a:solidFill>
                  <a:srgbClr val="0F172A"/>
                </a:solidFill>
              </a:rPr>
              <a:t>Feature 5: Forensic Database Self-Healing</a:t>
            </a:r>
            <a:r>
              <a:t>   </a:t>
            </a:r>
            <a:r>
              <a:rPr b="1" sz="750">
                <a:solidFill>
                  <a:srgbClr val="7C3AED"/>
                </a:solidFill>
              </a:rPr>
              <a:t> EPHEMERAL HEALING </a:t>
            </a:r>
          </a:p>
        </p:txBody>
      </p:sp>
      <p:sp>
        <p:nvSpPr>
          <p:cNvPr id="33" name="TextBox 32"/>
          <p:cNvSpPr txBox="1"/>
          <p:nvPr/>
        </p:nvSpPr>
        <p:spPr>
          <a:xfrm>
            <a:off x="914400" y="5678424"/>
            <a:ext cx="10362895" cy="530352"/>
          </a:xfrm>
          <a:prstGeom prst="rect">
            <a:avLst/>
          </a:prstGeom>
          <a:noFill/>
        </p:spPr>
        <p:txBody>
          <a:bodyPr wrap="square">
            <a:spAutoFit/>
          </a:bodyPr>
          <a:lstStyle/>
          <a:p>
            <a:r>
              <a:rPr sz="830">
                <a:solidFill>
                  <a:srgbClr val="334155"/>
                </a:solidFill>
              </a:rPr>
              <a:t>Traditional apps leave persistent traces of decrypted media. Chatvia implements atomic self-healing: upon single-view decryption, PostgreSQL updates attachments with the original clean PNG and nullifies original_png, removing any forensic trace of steganography from disk and database backups.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Phase 3 Testing: 20 Test Cases Executed (100% Pass Rate)</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1664208" cy="777240"/>
          </a:xfrm>
          <a:prstGeom prst="roundRect">
            <a:avLst/>
          </a:prstGeom>
          <a:solidFill>
            <a:srgbClr val="DBEAFE"/>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1D4ED8"/>
                </a:solidFill>
              </a:rPr>
              <a:t>20
</a:t>
            </a:r>
          </a:p>
          <a:p>
            <a:pPr algn="ctr"/>
            <a:r>
              <a:rPr b="1" sz="750">
                <a:solidFill>
                  <a:srgbClr val="334155"/>
                </a:solidFill>
              </a:rPr>
              <a:t>Total Test Cases</a:t>
            </a:r>
          </a:p>
        </p:txBody>
      </p:sp>
      <p:sp>
        <p:nvSpPr>
          <p:cNvPr id="20" name="Rounded Rectangle 19"/>
          <p:cNvSpPr/>
          <p:nvPr/>
        </p:nvSpPr>
        <p:spPr>
          <a:xfrm>
            <a:off x="2542032" y="1234440"/>
            <a:ext cx="1664208" cy="777240"/>
          </a:xfrm>
          <a:prstGeom prst="roundRect">
            <a:avLst/>
          </a:prstGeom>
          <a:solidFill>
            <a:srgbClr val="D1FAE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059669"/>
                </a:solidFill>
              </a:rPr>
              <a:t>100%
</a:t>
            </a:r>
          </a:p>
          <a:p>
            <a:pPr algn="ctr"/>
            <a:r>
              <a:rPr b="1" sz="750">
                <a:solidFill>
                  <a:srgbClr val="334155"/>
                </a:solidFill>
              </a:rPr>
              <a:t>Execution Pass</a:t>
            </a:r>
          </a:p>
        </p:txBody>
      </p:sp>
      <p:sp>
        <p:nvSpPr>
          <p:cNvPr id="21" name="Rounded Rectangle 20"/>
          <p:cNvSpPr/>
          <p:nvPr/>
        </p:nvSpPr>
        <p:spPr>
          <a:xfrm>
            <a:off x="4352544" y="1234440"/>
            <a:ext cx="1664208" cy="777240"/>
          </a:xfrm>
          <a:prstGeom prst="roundRect">
            <a:avLst/>
          </a:prstGeom>
          <a:solidFill>
            <a:srgbClr val="CCFBF1"/>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0F766E"/>
                </a:solidFill>
              </a:rPr>
              <a:t>&lt; 70 ms
</a:t>
            </a:r>
          </a:p>
          <a:p>
            <a:pPr algn="ctr"/>
            <a:r>
              <a:rPr b="1" sz="750">
                <a:solidFill>
                  <a:srgbClr val="334155"/>
                </a:solidFill>
              </a:rPr>
              <a:t>Face Verify Latency</a:t>
            </a:r>
          </a:p>
        </p:txBody>
      </p:sp>
      <p:sp>
        <p:nvSpPr>
          <p:cNvPr id="22" name="Rounded Rectangle 21"/>
          <p:cNvSpPr/>
          <p:nvPr/>
        </p:nvSpPr>
        <p:spPr>
          <a:xfrm>
            <a:off x="6163056" y="1234440"/>
            <a:ext cx="1664208" cy="777240"/>
          </a:xfrm>
          <a:prstGeom prst="roundRect">
            <a:avLst/>
          </a:prstGeom>
          <a:solidFill>
            <a:srgbClr val="CCFBF1"/>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0F766E"/>
                </a:solidFill>
              </a:rPr>
              <a:t>&lt; 80 ms
</a:t>
            </a:r>
          </a:p>
          <a:p>
            <a:pPr algn="ctr"/>
            <a:r>
              <a:rPr b="1" sz="750">
                <a:solidFill>
                  <a:srgbClr val="334155"/>
                </a:solidFill>
              </a:rPr>
              <a:t>WebSocket Latency</a:t>
            </a:r>
          </a:p>
        </p:txBody>
      </p:sp>
      <p:sp>
        <p:nvSpPr>
          <p:cNvPr id="23" name="Rounded Rectangle 22"/>
          <p:cNvSpPr/>
          <p:nvPr/>
        </p:nvSpPr>
        <p:spPr>
          <a:xfrm>
            <a:off x="7973568" y="1234440"/>
            <a:ext cx="1664208" cy="777240"/>
          </a:xfrm>
          <a:prstGeom prst="roundRect">
            <a:avLst/>
          </a:prstGeom>
          <a:solidFill>
            <a:srgbClr val="FEF3C7"/>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D97706"/>
                </a:solidFill>
              </a:rPr>
              <a:t>25 MB
</a:t>
            </a:r>
          </a:p>
          <a:p>
            <a:pPr algn="ctr"/>
            <a:r>
              <a:rPr b="1" sz="750">
                <a:solidFill>
                  <a:srgbClr val="334155"/>
                </a:solidFill>
              </a:rPr>
              <a:t>Max File Upload</a:t>
            </a:r>
          </a:p>
        </p:txBody>
      </p:sp>
      <p:sp>
        <p:nvSpPr>
          <p:cNvPr id="24" name="Rounded Rectangle 23"/>
          <p:cNvSpPr/>
          <p:nvPr/>
        </p:nvSpPr>
        <p:spPr>
          <a:xfrm>
            <a:off x="9784080" y="1234440"/>
            <a:ext cx="1664208" cy="777240"/>
          </a:xfrm>
          <a:prstGeom prst="roundRect">
            <a:avLst/>
          </a:prstGeom>
          <a:solidFill>
            <a:srgbClr val="F3E8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7C3AED"/>
                </a:solidFill>
              </a:rPr>
              <a:t>2,000 ms
</a:t>
            </a:r>
          </a:p>
          <a:p>
            <a:pPr algn="ctr"/>
            <a:r>
              <a:rPr b="1" sz="750">
                <a:solidFill>
                  <a:srgbClr val="334155"/>
                </a:solidFill>
              </a:rPr>
              <a:t>Network Abort Timeout</a:t>
            </a:r>
          </a:p>
        </p:txBody>
      </p:sp>
      <p:graphicFrame>
        <p:nvGraphicFramePr>
          <p:cNvPr id="25" name="Table 24"/>
          <p:cNvGraphicFramePr>
            <a:graphicFrameLocks noGrp="1"/>
          </p:cNvGraphicFramePr>
          <p:nvPr/>
        </p:nvGraphicFramePr>
        <p:xfrm>
          <a:off x="731520" y="2148840"/>
          <a:ext cx="10728655" cy="4206240"/>
        </p:xfrm>
        <a:graphic>
          <a:graphicData uri="http://schemas.openxmlformats.org/drawingml/2006/table">
            <a:tbl>
              <a:tblPr firstRow="1" bandRow="1">
                <a:tableStyleId>{5C22544A-7EE6-4342-B048-85BDC9FD1C3A}</a:tableStyleId>
              </a:tblPr>
              <a:tblGrid>
                <a:gridCol w="1005840"/>
                <a:gridCol w="1645920"/>
                <a:gridCol w="3108960"/>
                <a:gridCol w="3962095"/>
                <a:gridCol w="1005840"/>
              </a:tblGrid>
              <a:tr h="600891">
                <a:tc>
                  <a:txBody>
                    <a:bodyPr/>
                    <a:lstStyle/>
                    <a:p>
                      <a:pPr algn="ctr"/>
                      <a:r>
                        <a:rPr b="1" sz="850">
                          <a:solidFill>
                            <a:srgbClr val="FFFFFF"/>
                          </a:solidFill>
                        </a:rPr>
                        <a:t>Test ID</a:t>
                      </a:r>
                    </a:p>
                  </a:txBody>
                  <a:tcPr>
                    <a:solidFill>
                      <a:srgbClr val="0F766E"/>
                    </a:solidFill>
                  </a:tcPr>
                </a:tc>
                <a:tc>
                  <a:txBody>
                    <a:bodyPr/>
                    <a:lstStyle/>
                    <a:p>
                      <a:pPr algn="ctr"/>
                      <a:r>
                        <a:rPr b="1" sz="850">
                          <a:solidFill>
                            <a:srgbClr val="FFFFFF"/>
                          </a:solidFill>
                        </a:rPr>
                        <a:t>Feature Module</a:t>
                      </a:r>
                    </a:p>
                  </a:txBody>
                  <a:tcPr>
                    <a:solidFill>
                      <a:srgbClr val="0F766E"/>
                    </a:solidFill>
                  </a:tcPr>
                </a:tc>
                <a:tc>
                  <a:txBody>
                    <a:bodyPr/>
                    <a:lstStyle/>
                    <a:p>
                      <a:pPr algn="ctr"/>
                      <a:r>
                        <a:rPr b="1" sz="850">
                          <a:solidFill>
                            <a:srgbClr val="FFFFFF"/>
                          </a:solidFill>
                        </a:rPr>
                        <a:t>Condition / Input Tested</a:t>
                      </a:r>
                    </a:p>
                  </a:txBody>
                  <a:tcPr>
                    <a:solidFill>
                      <a:srgbClr val="0F766E"/>
                    </a:solidFill>
                  </a:tcPr>
                </a:tc>
                <a:tc>
                  <a:txBody>
                    <a:bodyPr/>
                    <a:lstStyle/>
                    <a:p>
                      <a:pPr algn="ctr"/>
                      <a:r>
                        <a:rPr b="1" sz="850">
                          <a:solidFill>
                            <a:srgbClr val="FFFFFF"/>
                          </a:solidFill>
                        </a:rPr>
                        <a:t>Expected &amp; Verified Outcome</a:t>
                      </a:r>
                    </a:p>
                  </a:txBody>
                  <a:tcPr>
                    <a:solidFill>
                      <a:srgbClr val="0F766E"/>
                    </a:solidFill>
                  </a:tcPr>
                </a:tc>
                <a:tc>
                  <a:txBody>
                    <a:bodyPr/>
                    <a:lstStyle/>
                    <a:p>
                      <a:pPr algn="ctr"/>
                      <a:r>
                        <a:rPr b="1" sz="850">
                          <a:solidFill>
                            <a:srgbClr val="FFFFFF"/>
                          </a:solidFill>
                        </a:rPr>
                        <a:t>Status</a:t>
                      </a:r>
                    </a:p>
                  </a:txBody>
                  <a:tcPr>
                    <a:solidFill>
                      <a:srgbClr val="0F766E"/>
                    </a:solidFill>
                  </a:tcPr>
                </a:tc>
              </a:tr>
              <a:tr h="600891">
                <a:tc>
                  <a:txBody>
                    <a:bodyPr/>
                    <a:lstStyle/>
                    <a:p>
                      <a:pPr algn="ctr"/>
                      <a:r>
                        <a:rPr sz="800" b="1">
                          <a:solidFill>
                            <a:srgbClr val="0F172A"/>
                          </a:solidFill>
                        </a:rPr>
                        <a:t>TC-REG-02</a:t>
                      </a:r>
                    </a:p>
                  </a:txBody>
                  <a:tcPr>
                    <a:solidFill>
                      <a:srgbClr val="FFFFFF"/>
                    </a:solidFill>
                  </a:tcPr>
                </a:tc>
                <a:tc>
                  <a:txBody>
                    <a:bodyPr/>
                    <a:lstStyle/>
                    <a:p>
                      <a:r>
                        <a:rPr sz="800">
                          <a:solidFill>
                            <a:srgbClr val="334155"/>
                          </a:solidFill>
                        </a:rPr>
                        <a:t>Biometric Enrollment</a:t>
                      </a:r>
                    </a:p>
                  </a:txBody>
                  <a:tcPr>
                    <a:solidFill>
                      <a:srgbClr val="FFFFFF"/>
                    </a:solidFill>
                  </a:tcPr>
                </a:tc>
                <a:tc>
                  <a:txBody>
                    <a:bodyPr/>
                    <a:lstStyle/>
                    <a:p>
                      <a:r>
                        <a:rPr sz="800">
                          <a:solidFill>
                            <a:srgbClr val="334155"/>
                          </a:solidFill>
                        </a:rPr>
                        <a:t>User attempts registration with 2 faces visible in webcam frame</a:t>
                      </a:r>
                    </a:p>
                  </a:txBody>
                  <a:tcPr>
                    <a:solidFill>
                      <a:srgbClr val="FFFFFF"/>
                    </a:solidFill>
                  </a:tcPr>
                </a:tc>
                <a:tc>
                  <a:txBody>
                    <a:bodyPr/>
                    <a:lstStyle/>
                    <a:p>
                      <a:r>
                        <a:rPr sz="800">
                          <a:solidFill>
                            <a:srgbClr val="334155"/>
                          </a:solidFill>
                        </a:rPr>
                        <a:t>HTTP 422 rejected; error 'Capture exactly one face, clearly visible'; blocked</a:t>
                      </a:r>
                    </a:p>
                  </a:txBody>
                  <a:tcPr>
                    <a:solidFill>
                      <a:srgbClr val="FFFFFF"/>
                    </a:solidFill>
                  </a:tcPr>
                </a:tc>
                <a:tc>
                  <a:txBody>
                    <a:bodyPr/>
                    <a:lstStyle/>
                    <a:p>
                      <a:pPr algn="ctr"/>
                      <a:r>
                        <a:rPr sz="800" b="1">
                          <a:solidFill>
                            <a:srgbClr val="059669"/>
                          </a:solidFill>
                        </a:rPr>
                        <a:t>PASS (100%)</a:t>
                      </a:r>
                    </a:p>
                  </a:txBody>
                  <a:tcPr>
                    <a:solidFill>
                      <a:srgbClr val="FFFFFF"/>
                    </a:solidFill>
                  </a:tcPr>
                </a:tc>
              </a:tr>
              <a:tr h="600891">
                <a:tc>
                  <a:txBody>
                    <a:bodyPr/>
                    <a:lstStyle/>
                    <a:p>
                      <a:pPr algn="ctr"/>
                      <a:r>
                        <a:rPr sz="800" b="1">
                          <a:solidFill>
                            <a:srgbClr val="0F172A"/>
                          </a:solidFill>
                        </a:rPr>
                        <a:t>TC-KEY-01</a:t>
                      </a:r>
                    </a:p>
                  </a:txBody>
                  <a:tcPr>
                    <a:solidFill>
                      <a:srgbClr val="F1F5F9"/>
                    </a:solidFill>
                  </a:tcPr>
                </a:tc>
                <a:tc>
                  <a:txBody>
                    <a:bodyPr/>
                    <a:lstStyle/>
                    <a:p>
                      <a:r>
                        <a:rPr sz="800">
                          <a:solidFill>
                            <a:srgbClr val="334155"/>
                          </a:solidFill>
                        </a:rPr>
                        <a:t>Friendship Key Derivation</a:t>
                      </a:r>
                    </a:p>
                  </a:txBody>
                  <a:tcPr>
                    <a:solidFill>
                      <a:srgbClr val="F1F5F9"/>
                    </a:solidFill>
                  </a:tcPr>
                </a:tc>
                <a:tc>
                  <a:txBody>
                    <a:bodyPr/>
                    <a:lstStyle/>
                    <a:p>
                      <a:r>
                        <a:rPr sz="800">
                          <a:solidFill>
                            <a:srgbClr val="334155"/>
                          </a:solidFill>
                        </a:rPr>
                        <a:t>Both friends input matching shared passphrase out-of-band</a:t>
                      </a:r>
                    </a:p>
                  </a:txBody>
                  <a:tcPr>
                    <a:solidFill>
                      <a:srgbClr val="F1F5F9"/>
                    </a:solidFill>
                  </a:tcPr>
                </a:tc>
                <a:tc>
                  <a:txBody>
                    <a:bodyPr/>
                    <a:lstStyle/>
                    <a:p>
                      <a:r>
                        <a:rPr sz="800">
                          <a:solidFill>
                            <a:srgbClr val="334155"/>
                          </a:solidFill>
                        </a:rPr>
                        <a:t>PBKDF2 salted hash verified; non-exportable AES-GCM key cached in IndexedDB</a:t>
                      </a:r>
                    </a:p>
                  </a:txBody>
                  <a:tcPr>
                    <a:solidFill>
                      <a:srgbClr val="F1F5F9"/>
                    </a:solidFill>
                  </a:tcPr>
                </a:tc>
                <a:tc>
                  <a:txBody>
                    <a:bodyPr/>
                    <a:lstStyle/>
                    <a:p>
                      <a:pPr algn="ctr"/>
                      <a:r>
                        <a:rPr sz="800" b="1">
                          <a:solidFill>
                            <a:srgbClr val="059669"/>
                          </a:solidFill>
                        </a:rPr>
                        <a:t>PASS (100%)</a:t>
                      </a:r>
                    </a:p>
                  </a:txBody>
                  <a:tcPr>
                    <a:solidFill>
                      <a:srgbClr val="F1F5F9"/>
                    </a:solidFill>
                  </a:tcPr>
                </a:tc>
              </a:tr>
              <a:tr h="600891">
                <a:tc>
                  <a:txBody>
                    <a:bodyPr/>
                    <a:lstStyle/>
                    <a:p>
                      <a:pPr algn="ctr"/>
                      <a:r>
                        <a:rPr sz="800" b="1">
                          <a:solidFill>
                            <a:srgbClr val="0F172A"/>
                          </a:solidFill>
                        </a:rPr>
                        <a:t>TC-STEG-01</a:t>
                      </a:r>
                    </a:p>
                  </a:txBody>
                  <a:tcPr>
                    <a:solidFill>
                      <a:srgbClr val="FFFFFF"/>
                    </a:solidFill>
                  </a:tcPr>
                </a:tc>
                <a:tc>
                  <a:txBody>
                    <a:bodyPr/>
                    <a:lstStyle/>
                    <a:p>
                      <a:r>
                        <a:rPr sz="800">
                          <a:solidFill>
                            <a:srgbClr val="334155"/>
                          </a:solidFill>
                        </a:rPr>
                        <a:t>Randomized LSB Stego</a:t>
                      </a:r>
                    </a:p>
                  </a:txBody>
                  <a:tcPr>
                    <a:solidFill>
                      <a:srgbClr val="FFFFFF"/>
                    </a:solidFill>
                  </a:tcPr>
                </a:tc>
                <a:tc>
                  <a:txBody>
                    <a:bodyPr/>
                    <a:lstStyle/>
                    <a:p>
                      <a:r>
                        <a:rPr sz="800">
                          <a:solidFill>
                            <a:srgbClr val="334155"/>
                          </a:solidFill>
                        </a:rPr>
                        <a:t>500-char private text embedded into 1.2MB lossless PNG carrier</a:t>
                      </a:r>
                    </a:p>
                  </a:txBody>
                  <a:tcPr>
                    <a:solidFill>
                      <a:srgbClr val="FFFFFF"/>
                    </a:solidFill>
                  </a:tcPr>
                </a:tc>
                <a:tc>
                  <a:txBody>
                    <a:bodyPr/>
                    <a:lstStyle/>
                    <a:p>
                      <a:r>
                        <a:rPr sz="800">
                          <a:solidFill>
                            <a:srgbClr val="334155"/>
                          </a:solidFill>
                        </a:rPr>
                        <a:t>Header CVS1 written; payload scattered via PRNG; zero visual distortion</a:t>
                      </a:r>
                    </a:p>
                  </a:txBody>
                  <a:tcPr>
                    <a:solidFill>
                      <a:srgbClr val="FFFFFF"/>
                    </a:solidFill>
                  </a:tcPr>
                </a:tc>
                <a:tc>
                  <a:txBody>
                    <a:bodyPr/>
                    <a:lstStyle/>
                    <a:p>
                      <a:pPr algn="ctr"/>
                      <a:r>
                        <a:rPr sz="800" b="1">
                          <a:solidFill>
                            <a:srgbClr val="059669"/>
                          </a:solidFill>
                        </a:rPr>
                        <a:t>PASS (100%)</a:t>
                      </a:r>
                    </a:p>
                  </a:txBody>
                  <a:tcPr>
                    <a:solidFill>
                      <a:srgbClr val="FFFFFF"/>
                    </a:solidFill>
                  </a:tcPr>
                </a:tc>
              </a:tr>
              <a:tr h="600891">
                <a:tc>
                  <a:txBody>
                    <a:bodyPr/>
                    <a:lstStyle/>
                    <a:p>
                      <a:pPr algn="ctr"/>
                      <a:r>
                        <a:rPr sz="800" b="1">
                          <a:solidFill>
                            <a:srgbClr val="0F172A"/>
                          </a:solidFill>
                        </a:rPr>
                        <a:t>TC-BIO-03</a:t>
                      </a:r>
                    </a:p>
                  </a:txBody>
                  <a:tcPr>
                    <a:solidFill>
                      <a:srgbClr val="F1F5F9"/>
                    </a:solidFill>
                  </a:tcPr>
                </a:tc>
                <a:tc>
                  <a:txBody>
                    <a:bodyPr/>
                    <a:lstStyle/>
                    <a:p>
                      <a:r>
                        <a:rPr sz="800">
                          <a:solidFill>
                            <a:srgbClr val="334155"/>
                          </a:solidFill>
                        </a:rPr>
                        <a:t>Shoulder Surfer Detection</a:t>
                      </a:r>
                    </a:p>
                  </a:txBody>
                  <a:tcPr>
                    <a:solidFill>
                      <a:srgbClr val="F1F5F9"/>
                    </a:solidFill>
                  </a:tcPr>
                </a:tc>
                <a:tc>
                  <a:txBody>
                    <a:bodyPr/>
                    <a:lstStyle/>
                    <a:p>
                      <a:r>
                        <a:rPr sz="800">
                          <a:solidFill>
                            <a:srgbClr val="334155"/>
                          </a:solidFill>
                        </a:rPr>
                        <a:t>Second person enters webcam view while recipient is viewing text</a:t>
                      </a:r>
                    </a:p>
                  </a:txBody>
                  <a:tcPr>
                    <a:solidFill>
                      <a:srgbClr val="F1F5F9"/>
                    </a:solidFill>
                  </a:tcPr>
                </a:tc>
                <a:tc>
                  <a:txBody>
                    <a:bodyPr/>
                    <a:lstStyle/>
                    <a:p>
                      <a:r>
                        <a:rPr sz="800">
                          <a:solidFill>
                            <a:srgbClr val="334155"/>
                          </a:solidFill>
                        </a:rPr>
                        <a:t>Active surveillance detects face_count == 2; text auto-concealed immediately</a:t>
                      </a:r>
                    </a:p>
                  </a:txBody>
                  <a:tcPr>
                    <a:solidFill>
                      <a:srgbClr val="F1F5F9"/>
                    </a:solidFill>
                  </a:tcPr>
                </a:tc>
                <a:tc>
                  <a:txBody>
                    <a:bodyPr/>
                    <a:lstStyle/>
                    <a:p>
                      <a:pPr algn="ctr"/>
                      <a:r>
                        <a:rPr sz="800" b="1">
                          <a:solidFill>
                            <a:srgbClr val="059669"/>
                          </a:solidFill>
                        </a:rPr>
                        <a:t>PASS (100%)</a:t>
                      </a:r>
                    </a:p>
                  </a:txBody>
                  <a:tcPr>
                    <a:solidFill>
                      <a:srgbClr val="F1F5F9"/>
                    </a:solidFill>
                  </a:tcPr>
                </a:tc>
              </a:tr>
              <a:tr h="600891">
                <a:tc>
                  <a:txBody>
                    <a:bodyPr/>
                    <a:lstStyle/>
                    <a:p>
                      <a:pPr algn="ctr"/>
                      <a:r>
                        <a:rPr sz="800" b="1">
                          <a:solidFill>
                            <a:srgbClr val="0F172A"/>
                          </a:solidFill>
                        </a:rPr>
                        <a:t>TC-BIO-05</a:t>
                      </a:r>
                    </a:p>
                  </a:txBody>
                  <a:tcPr>
                    <a:solidFill>
                      <a:srgbClr val="FFFFFF"/>
                    </a:solidFill>
                  </a:tcPr>
                </a:tc>
                <a:tc>
                  <a:txBody>
                    <a:bodyPr/>
                    <a:lstStyle/>
                    <a:p>
                      <a:r>
                        <a:rPr sz="800">
                          <a:solidFill>
                            <a:srgbClr val="334155"/>
                          </a:solidFill>
                        </a:rPr>
                        <a:t>Timeout Protection</a:t>
                      </a:r>
                    </a:p>
                  </a:txBody>
                  <a:tcPr>
                    <a:solidFill>
                      <a:srgbClr val="FFFFFF"/>
                    </a:solidFill>
                  </a:tcPr>
                </a:tc>
                <a:tc>
                  <a:txBody>
                    <a:bodyPr/>
                    <a:lstStyle/>
                    <a:p>
                      <a:r>
                        <a:rPr sz="800">
                          <a:solidFill>
                            <a:srgbClr val="334155"/>
                          </a:solidFill>
                        </a:rPr>
                        <a:t>Simulated network latency &gt; 2,000ms during face verification call</a:t>
                      </a:r>
                    </a:p>
                  </a:txBody>
                  <a:tcPr>
                    <a:solidFill>
                      <a:srgbClr val="FFFFFF"/>
                    </a:solidFill>
                  </a:tcPr>
                </a:tc>
                <a:tc>
                  <a:txBody>
                    <a:bodyPr/>
                    <a:lstStyle/>
                    <a:p>
                      <a:r>
                        <a:rPr sz="800">
                          <a:solidFill>
                            <a:srgbClr val="334155"/>
                          </a:solidFill>
                        </a:rPr>
                        <a:t>AbortSignal.timeout(2000) cancels request; text concealed safely with banner</a:t>
                      </a:r>
                    </a:p>
                  </a:txBody>
                  <a:tcPr>
                    <a:solidFill>
                      <a:srgbClr val="FFFFFF"/>
                    </a:solidFill>
                  </a:tcPr>
                </a:tc>
                <a:tc>
                  <a:txBody>
                    <a:bodyPr/>
                    <a:lstStyle/>
                    <a:p>
                      <a:pPr algn="ctr"/>
                      <a:r>
                        <a:rPr sz="800" b="1">
                          <a:solidFill>
                            <a:srgbClr val="059669"/>
                          </a:solidFill>
                        </a:rPr>
                        <a:t>PASS (100%)</a:t>
                      </a:r>
                    </a:p>
                  </a:txBody>
                  <a:tcPr>
                    <a:solidFill>
                      <a:srgbClr val="FFFFFF"/>
                    </a:solidFill>
                  </a:tcPr>
                </a:tc>
              </a:tr>
              <a:tr h="600894">
                <a:tc>
                  <a:txBody>
                    <a:bodyPr/>
                    <a:lstStyle/>
                    <a:p>
                      <a:pPr algn="ctr"/>
                      <a:r>
                        <a:rPr sz="800" b="1">
                          <a:solidFill>
                            <a:srgbClr val="0F172A"/>
                          </a:solidFill>
                        </a:rPr>
                        <a:t>TC-HEAL-01</a:t>
                      </a:r>
                    </a:p>
                  </a:txBody>
                  <a:tcPr>
                    <a:solidFill>
                      <a:srgbClr val="F1F5F9"/>
                    </a:solidFill>
                  </a:tcPr>
                </a:tc>
                <a:tc>
                  <a:txBody>
                    <a:bodyPr/>
                    <a:lstStyle/>
                    <a:p>
                      <a:r>
                        <a:rPr sz="800">
                          <a:solidFill>
                            <a:srgbClr val="334155"/>
                          </a:solidFill>
                        </a:rPr>
                        <a:t>Forensic Self-Healing</a:t>
                      </a:r>
                    </a:p>
                  </a:txBody>
                  <a:tcPr>
                    <a:solidFill>
                      <a:srgbClr val="F1F5F9"/>
                    </a:solidFill>
                  </a:tcPr>
                </a:tc>
                <a:tc>
                  <a:txBody>
                    <a:bodyPr/>
                    <a:lstStyle/>
                    <a:p>
                      <a:r>
                        <a:rPr sz="800">
                          <a:solidFill>
                            <a:srgbClr val="334155"/>
                          </a:solidFill>
                        </a:rPr>
                        <a:t>Message decrypted and successfully viewed once by authorized recipient</a:t>
                      </a:r>
                    </a:p>
                  </a:txBody>
                  <a:tcPr>
                    <a:solidFill>
                      <a:srgbClr val="F1F5F9"/>
                    </a:solidFill>
                  </a:tcPr>
                </a:tc>
                <a:tc>
                  <a:txBody>
                    <a:bodyPr/>
                    <a:lstStyle/>
                    <a:p>
                      <a:r>
                        <a:rPr sz="800">
                          <a:solidFill>
                            <a:srgbClr val="334155"/>
                          </a:solidFill>
                        </a:rPr>
                        <a:t>Database restores original clean PNG to attachments; recovery copy deleted</a:t>
                      </a:r>
                    </a:p>
                  </a:txBody>
                  <a:tcPr>
                    <a:solidFill>
                      <a:srgbClr val="F1F5F9"/>
                    </a:solidFill>
                  </a:tcPr>
                </a:tc>
                <a:tc>
                  <a:txBody>
                    <a:bodyPr/>
                    <a:lstStyle/>
                    <a:p>
                      <a:pPr algn="ctr"/>
                      <a:r>
                        <a:rPr sz="800" b="1">
                          <a:solidFill>
                            <a:srgbClr val="059669"/>
                          </a:solidFill>
                        </a:rPr>
                        <a:t>PASS (100%)</a:t>
                      </a:r>
                    </a:p>
                  </a:txBody>
                  <a:tcPr>
                    <a:solidFill>
                      <a:srgbClr val="F1F5F9"/>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Application Visual Proof: Desktop Chatvia Dashboard</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7589520" cy="5120640"/>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shot 2026-10-29 034058.png"/>
          <p:cNvPicPr>
            <a:picLocks noChangeAspect="1"/>
          </p:cNvPicPr>
          <p:nvPr/>
        </p:nvPicPr>
        <p:blipFill>
          <a:blip r:embed="rId4"/>
          <a:stretch>
            <a:fillRect/>
          </a:stretch>
        </p:blipFill>
        <p:spPr>
          <a:xfrm>
            <a:off x="822960" y="1325880"/>
            <a:ext cx="7406640" cy="4937760"/>
          </a:xfrm>
          <a:prstGeom prst="rect">
            <a:avLst/>
          </a:prstGeom>
        </p:spPr>
      </p:pic>
      <p:sp>
        <p:nvSpPr>
          <p:cNvPr id="21" name="Rounded Rectangle 20"/>
          <p:cNvSpPr/>
          <p:nvPr/>
        </p:nvSpPr>
        <p:spPr>
          <a:xfrm>
            <a:off x="8503920" y="1234440"/>
            <a:ext cx="2956255"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68512" y="1344168"/>
            <a:ext cx="2627071" cy="365760"/>
          </a:xfrm>
          <a:prstGeom prst="rect">
            <a:avLst/>
          </a:prstGeom>
          <a:noFill/>
        </p:spPr>
        <p:txBody>
          <a:bodyPr wrap="none">
            <a:spAutoFit/>
          </a:bodyPr>
          <a:lstStyle/>
          <a:p>
            <a:r>
              <a:rPr b="1" sz="1100">
                <a:solidFill>
                  <a:srgbClr val="0F172A"/>
                </a:solidFill>
              </a:rPr>
              <a:t>DESKTOP FEATURES</a:t>
            </a:r>
          </a:p>
        </p:txBody>
      </p:sp>
      <p:sp>
        <p:nvSpPr>
          <p:cNvPr id="23" name="TextBox 22"/>
          <p:cNvSpPr txBox="1"/>
          <p:nvPr/>
        </p:nvSpPr>
        <p:spPr>
          <a:xfrm>
            <a:off x="8641080" y="1645920"/>
            <a:ext cx="2681935" cy="4572000"/>
          </a:xfrm>
          <a:prstGeom prst="rect">
            <a:avLst/>
          </a:prstGeom>
          <a:noFill/>
        </p:spPr>
        <p:txBody>
          <a:bodyPr wrap="square">
            <a:spAutoFit/>
          </a:bodyPr>
          <a:lstStyle/>
          <a:p/>
          <a:p>
            <a:pPr>
              <a:spcAft>
                <a:spcPts val="800"/>
              </a:spcAft>
            </a:pPr>
            <a:r>
              <a:rPr b="1" sz="850">
                <a:solidFill>
                  <a:srgbClr val="0F766E"/>
                </a:solidFill>
              </a:rPr>
              <a:t>• Active Contact Directory:
</a:t>
            </a:r>
            <a:r>
              <a:rPr sz="750">
                <a:solidFill>
                  <a:srgbClr val="334155"/>
                </a:solidFill>
              </a:rPr>
              <a:t>Bilateral friend relationships using unique 32-char User ID codes. Displays online status in real-time.</a:t>
            </a:r>
          </a:p>
          <a:p>
            <a:pPr>
              <a:spcAft>
                <a:spcPts val="800"/>
              </a:spcAft>
            </a:pPr>
            <a:r>
              <a:rPr b="1" sz="850">
                <a:solidFill>
                  <a:srgbClr val="0F766E"/>
                </a:solidFill>
              </a:rPr>
              <a:t>• Real-Time Message Stream:
</a:t>
            </a:r>
            <a:r>
              <a:rPr sz="750">
                <a:solidFill>
                  <a:srgbClr val="334155"/>
                </a:solidFill>
              </a:rPr>
              <a:t>Instant WebSocket delivery with sub-80ms broadcast latency. Supports text, files, and private images.</a:t>
            </a:r>
          </a:p>
          <a:p>
            <a:pPr>
              <a:spcAft>
                <a:spcPts val="800"/>
              </a:spcAft>
            </a:pPr>
            <a:r>
              <a:rPr b="1" sz="850">
                <a:solidFill>
                  <a:srgbClr val="0F766E"/>
                </a:solidFill>
              </a:rPr>
              <a:t>• Steganographic Message Card:
</a:t>
            </a:r>
            <a:r>
              <a:rPr sz="750">
                <a:solidFill>
                  <a:srgbClr val="334155"/>
                </a:solidFill>
              </a:rPr>
              <a:t>Carriers render as ordinary innocent PNGs. Decrypt trigger requires biometric gating.</a:t>
            </a:r>
          </a:p>
          <a:p>
            <a:pPr>
              <a:spcAft>
                <a:spcPts val="800"/>
              </a:spcAft>
            </a:pPr>
            <a:r>
              <a:rPr b="1" sz="850">
                <a:solidFill>
                  <a:srgbClr val="0F766E"/>
                </a:solidFill>
              </a:rPr>
              <a:t>• Responsive Dark UI:
</a:t>
            </a:r>
            <a:r>
              <a:rPr sz="750">
                <a:solidFill>
                  <a:srgbClr val="334155"/>
                </a:solidFill>
              </a:rPr>
              <a:t>Engineered with Tailwind CSS and Lucide icons for maximum ergonomics and focus.</a:t>
            </a:r>
          </a:p>
          <a:p>
            <a:pPr>
              <a:spcAft>
                <a:spcPts val="800"/>
              </a:spcAft>
            </a:pPr>
            <a:r>
              <a:rPr b="1" sz="850">
                <a:solidFill>
                  <a:srgbClr val="0F766E"/>
                </a:solidFill>
              </a:rPr>
              <a:t>• Live Production URL:
</a:t>
            </a:r>
            <a:r>
              <a:rPr sz="750">
                <a:solidFill>
                  <a:srgbClr val="334155"/>
                </a:solidFill>
              </a:rPr>
              <a:t>Deployed and tested live on Render PaaS at chatvia-app-k7o7.onrender.com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Application Visual Proof: Biometric Enrollment &amp; Stego Sender</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3108960" cy="5120640"/>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1344168"/>
            <a:ext cx="2779776" cy="365760"/>
          </a:xfrm>
          <a:prstGeom prst="rect">
            <a:avLst/>
          </a:prstGeom>
          <a:noFill/>
        </p:spPr>
        <p:txBody>
          <a:bodyPr wrap="none">
            <a:spAutoFit/>
          </a:bodyPr>
          <a:lstStyle/>
          <a:p>
            <a:r>
              <a:rPr b="1" sz="1100">
                <a:solidFill>
                  <a:srgbClr val="0F766E"/>
                </a:solidFill>
              </a:rPr>
              <a:t>BIOMETRIC ENROLLMENT</a:t>
            </a:r>
          </a:p>
        </p:txBody>
      </p:sp>
      <p:pic>
        <p:nvPicPr>
          <p:cNvPr id="21" name="Picture 20" descr="Screenshot 2026-10-29 034122.png"/>
          <p:cNvPicPr>
            <a:picLocks noChangeAspect="1"/>
          </p:cNvPicPr>
          <p:nvPr/>
        </p:nvPicPr>
        <p:blipFill>
          <a:blip r:embed="rId4"/>
          <a:stretch>
            <a:fillRect/>
          </a:stretch>
        </p:blipFill>
        <p:spPr>
          <a:xfrm>
            <a:off x="868680" y="1645920"/>
            <a:ext cx="2834640" cy="4572000"/>
          </a:xfrm>
          <a:prstGeom prst="rect">
            <a:avLst/>
          </a:prstGeom>
        </p:spPr>
      </p:pic>
      <p:sp>
        <p:nvSpPr>
          <p:cNvPr id="22" name="Rounded Rectangle 21"/>
          <p:cNvSpPr/>
          <p:nvPr/>
        </p:nvSpPr>
        <p:spPr>
          <a:xfrm>
            <a:off x="4023360" y="1234440"/>
            <a:ext cx="3108960" cy="5120640"/>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87952" y="1344168"/>
            <a:ext cx="2779776" cy="365760"/>
          </a:xfrm>
          <a:prstGeom prst="rect">
            <a:avLst/>
          </a:prstGeom>
          <a:noFill/>
        </p:spPr>
        <p:txBody>
          <a:bodyPr wrap="none">
            <a:spAutoFit/>
          </a:bodyPr>
          <a:lstStyle/>
          <a:p>
            <a:r>
              <a:rPr b="1" sz="1100">
                <a:solidFill>
                  <a:srgbClr val="1D4ED8"/>
                </a:solidFill>
              </a:rPr>
              <a:t>PRIVATE STEGO MESSAGE</a:t>
            </a:r>
          </a:p>
        </p:txBody>
      </p:sp>
      <p:pic>
        <p:nvPicPr>
          <p:cNvPr id="24" name="Picture 23" descr="Screenshot 2026-10-29 034136.png"/>
          <p:cNvPicPr>
            <a:picLocks noChangeAspect="1"/>
          </p:cNvPicPr>
          <p:nvPr/>
        </p:nvPicPr>
        <p:blipFill>
          <a:blip r:embed="rId5"/>
          <a:stretch>
            <a:fillRect/>
          </a:stretch>
        </p:blipFill>
        <p:spPr>
          <a:xfrm>
            <a:off x="4160520" y="1645920"/>
            <a:ext cx="2834640" cy="4572000"/>
          </a:xfrm>
          <a:prstGeom prst="rect">
            <a:avLst/>
          </a:prstGeom>
        </p:spPr>
      </p:pic>
      <p:sp>
        <p:nvSpPr>
          <p:cNvPr id="25" name="Rounded Rectangle 24"/>
          <p:cNvSpPr/>
          <p:nvPr/>
        </p:nvSpPr>
        <p:spPr>
          <a:xfrm>
            <a:off x="7315200" y="1234440"/>
            <a:ext cx="4144975"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9792" y="1344168"/>
            <a:ext cx="3815791" cy="365760"/>
          </a:xfrm>
          <a:prstGeom prst="rect">
            <a:avLst/>
          </a:prstGeom>
          <a:noFill/>
        </p:spPr>
        <p:txBody>
          <a:bodyPr wrap="none">
            <a:spAutoFit/>
          </a:bodyPr>
          <a:lstStyle/>
          <a:p>
            <a:r>
              <a:rPr b="1" sz="1100">
                <a:solidFill>
                  <a:srgbClr val="0F172A"/>
                </a:solidFill>
              </a:rPr>
              <a:t>MOBILE &amp; SECURITY WALKTHROUGH</a:t>
            </a:r>
          </a:p>
        </p:txBody>
      </p:sp>
      <p:sp>
        <p:nvSpPr>
          <p:cNvPr id="27" name="TextBox 26"/>
          <p:cNvSpPr txBox="1"/>
          <p:nvPr/>
        </p:nvSpPr>
        <p:spPr>
          <a:xfrm>
            <a:off x="7498079" y="1645920"/>
            <a:ext cx="3779215" cy="4572000"/>
          </a:xfrm>
          <a:prstGeom prst="rect">
            <a:avLst/>
          </a:prstGeom>
          <a:noFill/>
        </p:spPr>
        <p:txBody>
          <a:bodyPr wrap="square">
            <a:spAutoFit/>
          </a:bodyPr>
          <a:lstStyle/>
          <a:p/>
          <a:p>
            <a:pPr>
              <a:spcAft>
                <a:spcPts val="1000"/>
              </a:spcAft>
            </a:pPr>
            <a:r>
              <a:rPr b="1" sz="850">
                <a:solidFill>
                  <a:srgbClr val="0F766E"/>
                </a:solidFill>
              </a:rPr>
              <a:t>• Mandatory Biometric Registration (Figure 2):
</a:t>
            </a:r>
            <a:r>
              <a:rPr sz="780">
                <a:solidFill>
                  <a:srgbClr val="334155"/>
                </a:solidFill>
              </a:rPr>
              <a:t>Users cannot sign up without explicit camera consent and single-face capture. InspireFace validates alignment, eliminates multi-face fraud, and outputs a 512-d embedding. The raw photograph is instantly destroyed.</a:t>
            </a:r>
          </a:p>
          <a:p>
            <a:pPr>
              <a:spcAft>
                <a:spcPts val="1000"/>
              </a:spcAft>
            </a:pPr>
            <a:r>
              <a:rPr b="1" sz="850">
                <a:solidFill>
                  <a:srgbClr val="0F766E"/>
                </a:solidFill>
              </a:rPr>
              <a:t>• Master Key Encryption Before Persistence:
</a:t>
            </a:r>
            <a:r>
              <a:rPr sz="780">
                <a:solidFill>
                  <a:srgbClr val="334155"/>
                </a:solidFill>
              </a:rPr>
              <a:t>Biometric templates are encrypted with AES-256-GCM via the backend's secret master key prior to PostgreSQL storage, preventing data leakage in database dumps.</a:t>
            </a:r>
          </a:p>
          <a:p>
            <a:pPr>
              <a:spcAft>
                <a:spcPts val="1000"/>
              </a:spcAft>
            </a:pPr>
            <a:r>
              <a:rPr b="1" sz="850">
                <a:solidFill>
                  <a:srgbClr val="0F766E"/>
                </a:solidFill>
              </a:rPr>
              <a:t>• Private Image Message Composition (Figure 3):
</a:t>
            </a:r>
            <a:r>
              <a:rPr sz="780">
                <a:solidFill>
                  <a:srgbClr val="334155"/>
                </a:solidFill>
              </a:rPr>
              <a:t>Users toggle 'Private image message' in the chat composer. An innocent carrier PNG is selected, and secret text is typed. The client encrypts the text with WebCrypto before sending to the stego engine.</a:t>
            </a:r>
          </a:p>
          <a:p>
            <a:pPr>
              <a:spcAft>
                <a:spcPts val="1000"/>
              </a:spcAft>
            </a:pPr>
            <a:r>
              <a:rPr b="1" sz="850">
                <a:solidFill>
                  <a:srgbClr val="0F766E"/>
                </a:solidFill>
              </a:rPr>
              <a:t>• Friendship Key Management &amp; Rotation:
</a:t>
            </a:r>
            <a:r>
              <a:rPr sz="780">
                <a:solidFill>
                  <a:srgbClr val="334155"/>
                </a:solidFill>
              </a:rPr>
              <a:t>Friends agree on a shared passphrase once. Derived keys persist in IndexedDB without ever being sent across the wire. Key rotation is blocked while any private message remains unopened.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Challenges Faced &amp; Engineering Solutions</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1344168"/>
            <a:ext cx="10399471" cy="365760"/>
          </a:xfrm>
          <a:prstGeom prst="rect">
            <a:avLst/>
          </a:prstGeom>
          <a:noFill/>
        </p:spPr>
        <p:txBody>
          <a:bodyPr wrap="none">
            <a:spAutoFit/>
          </a:bodyPr>
          <a:lstStyle/>
          <a:p>
            <a:r>
              <a:rPr b="1" sz="1100">
                <a:solidFill>
                  <a:srgbClr val="0F172A"/>
                </a:solidFill>
              </a:rPr>
              <a:t>1. Render Single-Port Limitation ($PORT)</a:t>
            </a:r>
            <a:r>
              <a:t>   </a:t>
            </a:r>
            <a:r>
              <a:rPr b="1" sz="750">
                <a:solidFill>
                  <a:srgbClr val="0F766E"/>
                </a:solidFill>
              </a:rPr>
              <a:t> SOLVED: REVERSE PROXY </a:t>
            </a:r>
          </a:p>
        </p:txBody>
      </p:sp>
      <p:sp>
        <p:nvSpPr>
          <p:cNvPr id="21" name="TextBox 20"/>
          <p:cNvSpPr txBox="1"/>
          <p:nvPr/>
        </p:nvSpPr>
        <p:spPr>
          <a:xfrm>
            <a:off x="914400" y="1554480"/>
            <a:ext cx="10362895" cy="548640"/>
          </a:xfrm>
          <a:prstGeom prst="rect">
            <a:avLst/>
          </a:prstGeom>
          <a:noFill/>
        </p:spPr>
        <p:txBody>
          <a:bodyPr wrap="square">
            <a:spAutoFit/>
          </a:bodyPr>
          <a:lstStyle/>
          <a:p>
            <a:r>
              <a:rPr b="1" sz="800">
                <a:solidFill>
                  <a:srgbClr val="D97706"/>
                </a:solidFill>
              </a:rPr>
              <a:t>Challenge: </a:t>
            </a:r>
            <a:r>
              <a:rPr sz="800">
                <a:solidFill>
                  <a:srgbClr val="334155"/>
                </a:solidFill>
              </a:rPr>
              <a:t>Cloud PaaS provides only one public web port ($PORT), but the architecture requires a React SPA, Express REST API, and WebSocket channels.  </a:t>
            </a:r>
            <a:r>
              <a:rPr b="1" sz="800">
                <a:solidFill>
                  <a:srgbClr val="059669"/>
                </a:solidFill>
              </a:rPr>
              <a:t>→ Solution: </a:t>
            </a:r>
            <a:r>
              <a:rPr sz="800">
                <a:solidFill>
                  <a:srgbClr val="0F172A"/>
                </a:solidFill>
              </a:rPr>
              <a:t>Engineered a unified root build script (`npm run build`) compiling both client and server. Express 5 acts as reverse proxy, serving Vite's compiled dist/ directory statically and routing API/WS paths cleanly.</a:t>
            </a:r>
          </a:p>
        </p:txBody>
      </p:sp>
      <p:sp>
        <p:nvSpPr>
          <p:cNvPr id="22" name="Rounded Rectangle 21"/>
          <p:cNvSpPr/>
          <p:nvPr/>
        </p:nvSpPr>
        <p:spPr>
          <a:xfrm>
            <a:off x="731520" y="2258568"/>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2368296"/>
            <a:ext cx="10399471" cy="365760"/>
          </a:xfrm>
          <a:prstGeom prst="rect">
            <a:avLst/>
          </a:prstGeom>
          <a:noFill/>
        </p:spPr>
        <p:txBody>
          <a:bodyPr wrap="none">
            <a:spAutoFit/>
          </a:bodyPr>
          <a:lstStyle/>
          <a:p>
            <a:r>
              <a:rPr b="1" sz="1100">
                <a:solidFill>
                  <a:srgbClr val="0F172A"/>
                </a:solidFill>
              </a:rPr>
              <a:t>2. Supabase SSL Pooler Rejection</a:t>
            </a:r>
            <a:r>
              <a:t>   </a:t>
            </a:r>
            <a:r>
              <a:rPr b="1" sz="750">
                <a:solidFill>
                  <a:srgbClr val="1D4ED8"/>
                </a:solidFill>
              </a:rPr>
              <a:t> SOLVED: DYNAMIC SSL </a:t>
            </a:r>
          </a:p>
        </p:txBody>
      </p:sp>
      <p:sp>
        <p:nvSpPr>
          <p:cNvPr id="24" name="TextBox 23"/>
          <p:cNvSpPr txBox="1"/>
          <p:nvPr/>
        </p:nvSpPr>
        <p:spPr>
          <a:xfrm>
            <a:off x="914400" y="2578608"/>
            <a:ext cx="10362895" cy="548640"/>
          </a:xfrm>
          <a:prstGeom prst="rect">
            <a:avLst/>
          </a:prstGeom>
          <a:noFill/>
        </p:spPr>
        <p:txBody>
          <a:bodyPr wrap="square">
            <a:spAutoFit/>
          </a:bodyPr>
          <a:lstStyle/>
          <a:p>
            <a:r>
              <a:rPr b="1" sz="800">
                <a:solidFill>
                  <a:srgbClr val="D97706"/>
                </a:solidFill>
              </a:rPr>
              <a:t>Challenge: </a:t>
            </a:r>
            <a:r>
              <a:rPr sz="800">
                <a:solidFill>
                  <a:srgbClr val="334155"/>
                </a:solidFill>
              </a:rPr>
              <a:t>The Node.js pg driver crashed with SELF_SIGNED_CERT_IN_CHAIN when connecting to the Supabase transaction pooler.  </a:t>
            </a:r>
            <a:r>
              <a:rPr b="1" sz="800">
                <a:solidFill>
                  <a:srgbClr val="059669"/>
                </a:solidFill>
              </a:rPr>
              <a:t>→ Solution: </a:t>
            </a:r>
            <a:r>
              <a:rPr sz="800">
                <a:solidFill>
                  <a:srgbClr val="0F172A"/>
                </a:solidFill>
              </a:rPr>
              <a:t>Implemented dynamic SSL configuration in server/src/db.ts detecting DATABASE_URL and enforcing { rejectUnauthorized: false } for seamless cloud pooler connectivity.</a:t>
            </a:r>
          </a:p>
        </p:txBody>
      </p:sp>
      <p:sp>
        <p:nvSpPr>
          <p:cNvPr id="25" name="Rounded Rectangle 24"/>
          <p:cNvSpPr/>
          <p:nvPr/>
        </p:nvSpPr>
        <p:spPr>
          <a:xfrm>
            <a:off x="731520" y="3282696"/>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392424"/>
            <a:ext cx="10399471" cy="365760"/>
          </a:xfrm>
          <a:prstGeom prst="rect">
            <a:avLst/>
          </a:prstGeom>
          <a:noFill/>
        </p:spPr>
        <p:txBody>
          <a:bodyPr wrap="none">
            <a:spAutoFit/>
          </a:bodyPr>
          <a:lstStyle/>
          <a:p>
            <a:r>
              <a:rPr b="1" sz="1100">
                <a:solidFill>
                  <a:srgbClr val="0F172A"/>
                </a:solidFill>
              </a:rPr>
              <a:t>3. Python 3.12 AI C-Library Wheels</a:t>
            </a:r>
            <a:r>
              <a:t>   </a:t>
            </a:r>
            <a:r>
              <a:rPr b="1" sz="750">
                <a:solidFill>
                  <a:srgbClr val="059669"/>
                </a:solidFill>
              </a:rPr>
              <a:t> SOLVED: THREAD LOCKING </a:t>
            </a:r>
          </a:p>
        </p:txBody>
      </p:sp>
      <p:sp>
        <p:nvSpPr>
          <p:cNvPr id="27" name="TextBox 26"/>
          <p:cNvSpPr txBox="1"/>
          <p:nvPr/>
        </p:nvSpPr>
        <p:spPr>
          <a:xfrm>
            <a:off x="914400" y="3602736"/>
            <a:ext cx="10362895" cy="548640"/>
          </a:xfrm>
          <a:prstGeom prst="rect">
            <a:avLst/>
          </a:prstGeom>
          <a:noFill/>
        </p:spPr>
        <p:txBody>
          <a:bodyPr wrap="square">
            <a:spAutoFit/>
          </a:bodyPr>
          <a:lstStyle/>
          <a:p>
            <a:r>
              <a:rPr b="1" sz="800">
                <a:solidFill>
                  <a:srgbClr val="D97706"/>
                </a:solidFill>
              </a:rPr>
              <a:t>Challenge: </a:t>
            </a:r>
            <a:r>
              <a:rPr sz="800">
                <a:solidFill>
                  <a:srgbClr val="334155"/>
                </a:solidFill>
              </a:rPr>
              <a:t>InspireFace native C-bindings lack prebuilt binaries for Python 3.13, causing segmentation faults on newer runtimes.  </a:t>
            </a:r>
            <a:r>
              <a:rPr b="1" sz="800">
                <a:solidFill>
                  <a:srgbClr val="059669"/>
                </a:solidFill>
              </a:rPr>
              <a:t>→ Solution: </a:t>
            </a:r>
            <a:r>
              <a:rPr sz="800">
                <a:solidFill>
                  <a:srgbClr val="0F172A"/>
                </a:solidFill>
              </a:rPr>
              <a:t>Configured dedicated Python 3.12 environment and introduced a thread synchronization lock (_session_lock) around inference calls to guarantee thread safety.</a:t>
            </a:r>
          </a:p>
        </p:txBody>
      </p:sp>
      <p:sp>
        <p:nvSpPr>
          <p:cNvPr id="28" name="Rounded Rectangle 27"/>
          <p:cNvSpPr/>
          <p:nvPr/>
        </p:nvSpPr>
        <p:spPr>
          <a:xfrm>
            <a:off x="731520" y="4306824"/>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4416552"/>
            <a:ext cx="10399471" cy="365760"/>
          </a:xfrm>
          <a:prstGeom prst="rect">
            <a:avLst/>
          </a:prstGeom>
          <a:noFill/>
        </p:spPr>
        <p:txBody>
          <a:bodyPr wrap="none">
            <a:spAutoFit/>
          </a:bodyPr>
          <a:lstStyle/>
          <a:p>
            <a:r>
              <a:rPr b="1" sz="1100">
                <a:solidFill>
                  <a:srgbClr val="0F172A"/>
                </a:solidFill>
              </a:rPr>
              <a:t>4. Camera Stream Lifecycle Leaks</a:t>
            </a:r>
            <a:r>
              <a:t>   </a:t>
            </a:r>
            <a:r>
              <a:rPr b="1" sz="750">
                <a:solidFill>
                  <a:srgbClr val="D97706"/>
                </a:solidFill>
              </a:rPr>
              <a:t> SOLVED: TRACK CLEANUP </a:t>
            </a:r>
          </a:p>
        </p:txBody>
      </p:sp>
      <p:sp>
        <p:nvSpPr>
          <p:cNvPr id="30" name="TextBox 29"/>
          <p:cNvSpPr txBox="1"/>
          <p:nvPr/>
        </p:nvSpPr>
        <p:spPr>
          <a:xfrm>
            <a:off x="914400" y="4626864"/>
            <a:ext cx="10362895" cy="548640"/>
          </a:xfrm>
          <a:prstGeom prst="rect">
            <a:avLst/>
          </a:prstGeom>
          <a:noFill/>
        </p:spPr>
        <p:txBody>
          <a:bodyPr wrap="square">
            <a:spAutoFit/>
          </a:bodyPr>
          <a:lstStyle/>
          <a:p>
            <a:r>
              <a:rPr b="1" sz="800">
                <a:solidFill>
                  <a:srgbClr val="D97706"/>
                </a:solidFill>
              </a:rPr>
              <a:t>Challenge: </a:t>
            </a:r>
            <a:r>
              <a:rPr sz="800">
                <a:solidFill>
                  <a:srgbClr val="334155"/>
                </a:solidFill>
              </a:rPr>
              <a:t>Background tabs or switching views left hardware webcam tracks active, wasting battery and triggering security indicators.  </a:t>
            </a:r>
            <a:r>
              <a:rPr b="1" sz="800">
                <a:solidFill>
                  <a:srgbClr val="059669"/>
                </a:solidFill>
              </a:rPr>
              <a:t>→ Solution: </a:t>
            </a:r>
            <a:r>
              <a:rPr sz="800">
                <a:solidFill>
                  <a:srgbClr val="0F172A"/>
                </a:solidFill>
              </a:rPr>
              <a:t>Implemented HTML5 visibilitychange listeners and ended event handlers that instantly terminate all media stream tracks when the user changes tabs or closes the card.</a:t>
            </a:r>
          </a:p>
        </p:txBody>
      </p:sp>
      <p:sp>
        <p:nvSpPr>
          <p:cNvPr id="31" name="Rounded Rectangle 30"/>
          <p:cNvSpPr/>
          <p:nvPr/>
        </p:nvSpPr>
        <p:spPr>
          <a:xfrm>
            <a:off x="731520" y="5330952"/>
            <a:ext cx="10728655" cy="932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440680"/>
            <a:ext cx="10399471" cy="365760"/>
          </a:xfrm>
          <a:prstGeom prst="rect">
            <a:avLst/>
          </a:prstGeom>
          <a:noFill/>
        </p:spPr>
        <p:txBody>
          <a:bodyPr wrap="none">
            <a:spAutoFit/>
          </a:bodyPr>
          <a:lstStyle/>
          <a:p>
            <a:r>
              <a:rPr b="1" sz="1100">
                <a:solidFill>
                  <a:srgbClr val="0F172A"/>
                </a:solidFill>
              </a:rPr>
              <a:t>5. Steganographic Visual Artifacts</a:t>
            </a:r>
            <a:r>
              <a:t>   </a:t>
            </a:r>
            <a:r>
              <a:rPr b="1" sz="750">
                <a:solidFill>
                  <a:srgbClr val="7C3AED"/>
                </a:solidFill>
              </a:rPr>
              <a:t> SOLVED: PRNG DISPERSAL </a:t>
            </a:r>
          </a:p>
        </p:txBody>
      </p:sp>
      <p:sp>
        <p:nvSpPr>
          <p:cNvPr id="33" name="TextBox 32"/>
          <p:cNvSpPr txBox="1"/>
          <p:nvPr/>
        </p:nvSpPr>
        <p:spPr>
          <a:xfrm>
            <a:off x="914400" y="5650992"/>
            <a:ext cx="10362895" cy="548640"/>
          </a:xfrm>
          <a:prstGeom prst="rect">
            <a:avLst/>
          </a:prstGeom>
          <a:noFill/>
        </p:spPr>
        <p:txBody>
          <a:bodyPr wrap="square">
            <a:spAutoFit/>
          </a:bodyPr>
          <a:lstStyle/>
          <a:p>
            <a:r>
              <a:rPr b="1" sz="800">
                <a:solidFill>
                  <a:srgbClr val="D97706"/>
                </a:solidFill>
              </a:rPr>
              <a:t>Challenge: </a:t>
            </a:r>
            <a:r>
              <a:rPr sz="800">
                <a:solidFill>
                  <a:srgbClr val="334155"/>
                </a:solidFill>
              </a:rPr>
              <a:t>Traditional sequential LSB insertion produces noticeable rectangular bands or color shifts in image gradients.  </a:t>
            </a:r>
            <a:r>
              <a:rPr b="1" sz="800">
                <a:solidFill>
                  <a:srgbClr val="059669"/>
                </a:solidFill>
              </a:rPr>
              <a:t>→ Solution: </a:t>
            </a:r>
            <a:r>
              <a:rPr sz="800">
                <a:solidFill>
                  <a:srgbClr val="0F172A"/>
                </a:solidFill>
              </a:rPr>
              <a:t>Developed a randomized NumPy PRNG bit distribution seeded by a 16-byte cryptographic token, scattering bits across RGB channels with zero perceptible change.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Results, Outcomes, Limitations &amp; Future Roadmap</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CCFBF1"/>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750">
                <a:solidFill>
                  <a:srgbClr val="0F766E"/>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5257800" cy="5120640"/>
          </a:xfrm>
          <a:prstGeom prst="roundRect">
            <a:avLst/>
          </a:prstGeom>
          <a:solidFill>
            <a:srgbClr val="FFFFFF"/>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1344168"/>
            <a:ext cx="4928616" cy="365760"/>
          </a:xfrm>
          <a:prstGeom prst="rect">
            <a:avLst/>
          </a:prstGeom>
          <a:noFill/>
        </p:spPr>
        <p:txBody>
          <a:bodyPr wrap="none">
            <a:spAutoFit/>
          </a:bodyPr>
          <a:lstStyle/>
          <a:p>
            <a:r>
              <a:rPr b="1" sz="1100">
                <a:solidFill>
                  <a:srgbClr val="059669"/>
                </a:solidFill>
              </a:rPr>
              <a:t>ACHIEVEMENTS &amp; MEASURED RESULTS</a:t>
            </a:r>
          </a:p>
        </p:txBody>
      </p:sp>
      <p:sp>
        <p:nvSpPr>
          <p:cNvPr id="21" name="TextBox 20"/>
          <p:cNvSpPr txBox="1"/>
          <p:nvPr/>
        </p:nvSpPr>
        <p:spPr>
          <a:xfrm>
            <a:off x="914400" y="1645920"/>
            <a:ext cx="4892040" cy="4572000"/>
          </a:xfrm>
          <a:prstGeom prst="rect">
            <a:avLst/>
          </a:prstGeom>
          <a:noFill/>
        </p:spPr>
        <p:txBody>
          <a:bodyPr wrap="square">
            <a:spAutoFit/>
          </a:bodyPr>
          <a:lstStyle/>
          <a:p/>
          <a:p>
            <a:pPr>
              <a:spcAft>
                <a:spcPts val="800"/>
              </a:spcAft>
            </a:pPr>
            <a:r>
              <a:rPr b="1" sz="880">
                <a:solidFill>
                  <a:srgbClr val="059669"/>
                </a:solidFill>
              </a:rPr>
              <a:t>✔ Sub-80ms Real-Time Delivery:
</a:t>
            </a:r>
            <a:r>
              <a:rPr sz="780">
                <a:solidFill>
                  <a:srgbClr val="334155"/>
                </a:solidFill>
              </a:rPr>
              <a:t>WebSocket broadcasts achieve instantaneous message synchronization between clients under real-world network loads.</a:t>
            </a:r>
          </a:p>
          <a:p>
            <a:pPr>
              <a:spcAft>
                <a:spcPts val="800"/>
              </a:spcAft>
            </a:pPr>
            <a:r>
              <a:rPr b="1" sz="880">
                <a:solidFill>
                  <a:srgbClr val="059669"/>
                </a:solidFill>
              </a:rPr>
              <a:t>✔ &lt; 70ms Biometric Inference:
</a:t>
            </a:r>
            <a:r>
              <a:rPr sz="780">
                <a:solidFill>
                  <a:srgbClr val="334155"/>
                </a:solidFill>
              </a:rPr>
              <a:t>InspireFace 512-d feature extraction and cosine verification execute in under 70ms on standard CPUs.</a:t>
            </a:r>
          </a:p>
          <a:p>
            <a:pPr>
              <a:spcAft>
                <a:spcPts val="800"/>
              </a:spcAft>
            </a:pPr>
            <a:r>
              <a:rPr b="1" sz="880">
                <a:solidFill>
                  <a:srgbClr val="059669"/>
                </a:solidFill>
              </a:rPr>
              <a:t>✔ Zero-Knowledge Privacy:
</a:t>
            </a:r>
            <a:r>
              <a:rPr sz="780">
                <a:solidFill>
                  <a:srgbClr val="334155"/>
                </a:solidFill>
              </a:rPr>
              <a:t>Zero raw facial images stored; zero plaintext stored in database; encryption keys never touch the server.</a:t>
            </a:r>
          </a:p>
          <a:p>
            <a:pPr>
              <a:spcAft>
                <a:spcPts val="800"/>
              </a:spcAft>
            </a:pPr>
            <a:r>
              <a:rPr b="1" sz="880">
                <a:solidFill>
                  <a:srgbClr val="059669"/>
                </a:solidFill>
              </a:rPr>
              <a:t>✔ 100% Comprehensive Test Pass:
</a:t>
            </a:r>
            <a:r>
              <a:rPr sz="780">
                <a:solidFill>
                  <a:srgbClr val="334155"/>
                </a:solidFill>
              </a:rPr>
              <a:t>All 20 test cases validated across registration, auth, keys, steganography, biometrics, and database self-healing.</a:t>
            </a:r>
          </a:p>
          <a:p>
            <a:pPr>
              <a:spcAft>
                <a:spcPts val="800"/>
              </a:spcAft>
            </a:pPr>
            <a:r>
              <a:rPr b="1" sz="880">
                <a:solidFill>
                  <a:srgbClr val="059669"/>
                </a:solidFill>
              </a:rPr>
              <a:t>✔ Production Cloud PaaS Deployment:
</a:t>
            </a:r>
            <a:r>
              <a:rPr sz="780">
                <a:solidFill>
                  <a:srgbClr val="334155"/>
                </a:solidFill>
              </a:rPr>
              <a:t>Publicly hosted and accessible 24/7 on Render at chatvia-app-k7o7.onrender.com</a:t>
            </a:r>
          </a:p>
        </p:txBody>
      </p:sp>
      <p:sp>
        <p:nvSpPr>
          <p:cNvPr id="22" name="Rounded Rectangle 21"/>
          <p:cNvSpPr/>
          <p:nvPr/>
        </p:nvSpPr>
        <p:spPr>
          <a:xfrm>
            <a:off x="6199632" y="1234440"/>
            <a:ext cx="5257800" cy="5120640"/>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344168"/>
            <a:ext cx="4928616" cy="365760"/>
          </a:xfrm>
          <a:prstGeom prst="rect">
            <a:avLst/>
          </a:prstGeom>
          <a:noFill/>
        </p:spPr>
        <p:txBody>
          <a:bodyPr wrap="none">
            <a:spAutoFit/>
          </a:bodyPr>
          <a:lstStyle/>
          <a:p>
            <a:r>
              <a:rPr b="1" sz="1100">
                <a:solidFill>
                  <a:srgbClr val="1D4ED8"/>
                </a:solidFill>
              </a:rPr>
              <a:t>LIMITATIONS &amp; FUTURE ROADMAP</a:t>
            </a:r>
          </a:p>
        </p:txBody>
      </p:sp>
      <p:sp>
        <p:nvSpPr>
          <p:cNvPr id="24" name="TextBox 23"/>
          <p:cNvSpPr txBox="1"/>
          <p:nvPr/>
        </p:nvSpPr>
        <p:spPr>
          <a:xfrm>
            <a:off x="6382512" y="1645920"/>
            <a:ext cx="4892040" cy="4572000"/>
          </a:xfrm>
          <a:prstGeom prst="rect">
            <a:avLst/>
          </a:prstGeom>
          <a:noFill/>
        </p:spPr>
        <p:txBody>
          <a:bodyPr wrap="square">
            <a:spAutoFit/>
          </a:bodyPr>
          <a:lstStyle/>
          <a:p/>
          <a:p>
            <a:pPr>
              <a:spcAft>
                <a:spcPts val="800"/>
              </a:spcAft>
            </a:pPr>
            <a:r>
              <a:rPr b="1" sz="880">
                <a:solidFill>
                  <a:srgbClr val="1D4ED8"/>
                </a:solidFill>
              </a:rPr>
              <a:t>✦ Current Limitations:
</a:t>
            </a:r>
            <a:r>
              <a:rPr sz="780">
                <a:solidFill>
                  <a:srgbClr val="334155"/>
                </a:solidFill>
              </a:rPr>
              <a:t>Requires lossless PNG carrier (JPEG/WebP corrupts LSB bits); 2D camera verification does not detect 3D infrared depth; per-device IndexedDB key requires unlocking once on new browsers.</a:t>
            </a:r>
          </a:p>
          <a:p>
            <a:pPr>
              <a:spcAft>
                <a:spcPts val="800"/>
              </a:spcAft>
            </a:pPr>
            <a:r>
              <a:rPr b="1" sz="880">
                <a:solidFill>
                  <a:srgbClr val="1D4ED8"/>
                </a:solidFill>
              </a:rPr>
              <a:t>✦ Active Liveness &amp; Micro-Movement:
</a:t>
            </a:r>
            <a:r>
              <a:rPr sz="780">
                <a:solidFill>
                  <a:srgbClr val="334155"/>
                </a:solidFill>
              </a:rPr>
              <a:t>Future enhancement to track blink frequency, head-pose jitter, and micro-movements to defeat high-res photograph spoofing attacks.</a:t>
            </a:r>
          </a:p>
          <a:p>
            <a:pPr>
              <a:spcAft>
                <a:spcPts val="800"/>
              </a:spcAft>
            </a:pPr>
            <a:r>
              <a:rPr b="1" sz="880">
                <a:solidFill>
                  <a:srgbClr val="1D4ED8"/>
                </a:solidFill>
              </a:rPr>
              <a:t>✦ Zero-Knowledge Biometric Proofs (zk-SNARKs):
</a:t>
            </a:r>
            <a:r>
              <a:rPr sz="780">
                <a:solidFill>
                  <a:srgbClr val="334155"/>
                </a:solidFill>
              </a:rPr>
              <a:t>Enabling clients to mathematically prove biometric ownership without transmitting encrypted embedding vectors to the server.</a:t>
            </a:r>
          </a:p>
          <a:p>
            <a:pPr>
              <a:spcAft>
                <a:spcPts val="800"/>
              </a:spcAft>
            </a:pPr>
            <a:r>
              <a:rPr b="1" sz="880">
                <a:solidFill>
                  <a:srgbClr val="1D4ED8"/>
                </a:solidFill>
              </a:rPr>
              <a:t>✦ Audio &amp; Video Steganography:
</a:t>
            </a:r>
            <a:r>
              <a:rPr sz="780">
                <a:solidFill>
                  <a:srgbClr val="334155"/>
                </a:solidFill>
              </a:rPr>
              <a:t>Expanding carrier support to lossless FLAC audio and WebM video streams for rich confidential multimedia data transfers.</a:t>
            </a:r>
          </a:p>
          <a:p>
            <a:pPr>
              <a:spcAft>
                <a:spcPts val="800"/>
              </a:spcAft>
            </a:pPr>
            <a:r>
              <a:rPr b="1" sz="880">
                <a:solidFill>
                  <a:srgbClr val="1D4ED8"/>
                </a:solidFill>
              </a:rPr>
              <a:t>✦ Decentralized P2P WebRTC Data Mesh:
</a:t>
            </a:r>
            <a:r>
              <a:rPr sz="780">
                <a:solidFill>
                  <a:srgbClr val="334155"/>
                </a:solidFill>
              </a:rPr>
              <a:t>Direct device-to-device encrypted data pipes bypassing centralized servers for extreme high-confidentiality scenarios.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5486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5943600" cy="868680"/>
          </a:xfrm>
          <a:prstGeom prst="rect">
            <a:avLst/>
          </a:prstGeom>
          <a:noFill/>
        </p:spPr>
        <p:txBody>
          <a:bodyPr wrap="none">
            <a:spAutoFit/>
          </a:bodyPr>
          <a:lstStyle/>
          <a:p>
            <a:r>
              <a:rPr b="1" sz="850">
                <a:solidFill>
                  <a:srgbClr val="0F766E"/>
                </a:solidFill>
              </a:rPr>
              <a:t>TEAM 65 (VELTROX) • HACKMITTEN 2026 • </a:t>
            </a:r>
            <a:r>
              <a:rPr b="0" sz="850">
                <a:solidFill>
                  <a:srgbClr val="64748B"/>
                </a:solidFill>
              </a:rPr>
              <a:t>PHASE 4: FINAL PROJECT PRESENTATION</a:t>
            </a:r>
          </a:p>
          <a:p>
            <a:r>
              <a:rPr b="1" sz="1650">
                <a:solidFill>
                  <a:srgbClr val="0F172A"/>
                </a:solidFill>
              </a:rPr>
              <a:t>Conclusion &amp; Interactive Live Demonstration</a:t>
            </a:r>
          </a:p>
        </p:txBody>
      </p:sp>
      <p:sp>
        <p:nvSpPr>
          <p:cNvPr id="6" name="Rounded Rectangle 5"/>
          <p:cNvSpPr/>
          <p:nvPr/>
        </p:nvSpPr>
        <p:spPr>
          <a:xfrm>
            <a:off x="649224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Overview</a:t>
            </a:r>
          </a:p>
        </p:txBody>
      </p:sp>
      <p:sp>
        <p:nvSpPr>
          <p:cNvPr id="7" name="Rounded Rectangle 6"/>
          <p:cNvSpPr/>
          <p:nvPr/>
        </p:nvSpPr>
        <p:spPr>
          <a:xfrm>
            <a:off x="703173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Problem</a:t>
            </a:r>
          </a:p>
        </p:txBody>
      </p:sp>
      <p:sp>
        <p:nvSpPr>
          <p:cNvPr id="8" name="Rounded Rectangle 7"/>
          <p:cNvSpPr/>
          <p:nvPr/>
        </p:nvSpPr>
        <p:spPr>
          <a:xfrm>
            <a:off x="757123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Solution</a:t>
            </a:r>
          </a:p>
        </p:txBody>
      </p:sp>
      <p:sp>
        <p:nvSpPr>
          <p:cNvPr id="9" name="Rounded Rectangle 8"/>
          <p:cNvSpPr/>
          <p:nvPr/>
        </p:nvSpPr>
        <p:spPr>
          <a:xfrm>
            <a:off x="811072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Methodology</a:t>
            </a:r>
          </a:p>
        </p:txBody>
      </p:sp>
      <p:sp>
        <p:nvSpPr>
          <p:cNvPr id="10" name="Rounded Rectangle 9"/>
          <p:cNvSpPr/>
          <p:nvPr/>
        </p:nvSpPr>
        <p:spPr>
          <a:xfrm>
            <a:off x="865022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Architecture</a:t>
            </a:r>
          </a:p>
        </p:txBody>
      </p:sp>
      <p:sp>
        <p:nvSpPr>
          <p:cNvPr id="11" name="Rounded Rectangle 10"/>
          <p:cNvSpPr/>
          <p:nvPr/>
        </p:nvSpPr>
        <p:spPr>
          <a:xfrm>
            <a:off x="918972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Stack</a:t>
            </a:r>
          </a:p>
        </p:txBody>
      </p:sp>
      <p:sp>
        <p:nvSpPr>
          <p:cNvPr id="12" name="Rounded Rectangle 11"/>
          <p:cNvSpPr/>
          <p:nvPr/>
        </p:nvSpPr>
        <p:spPr>
          <a:xfrm>
            <a:off x="9729216"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Features</a:t>
            </a:r>
          </a:p>
        </p:txBody>
      </p:sp>
      <p:sp>
        <p:nvSpPr>
          <p:cNvPr id="13" name="Rounded Rectangle 12"/>
          <p:cNvSpPr/>
          <p:nvPr/>
        </p:nvSpPr>
        <p:spPr>
          <a:xfrm>
            <a:off x="10268712"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Testing</a:t>
            </a:r>
          </a:p>
        </p:txBody>
      </p:sp>
      <p:sp>
        <p:nvSpPr>
          <p:cNvPr id="14" name="Rounded Rectangle 13"/>
          <p:cNvSpPr/>
          <p:nvPr/>
        </p:nvSpPr>
        <p:spPr>
          <a:xfrm>
            <a:off x="10808208"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Screenshots</a:t>
            </a:r>
          </a:p>
        </p:txBody>
      </p:sp>
      <p:sp>
        <p:nvSpPr>
          <p:cNvPr id="15" name="Rounded Rectangle 14"/>
          <p:cNvSpPr/>
          <p:nvPr/>
        </p:nvSpPr>
        <p:spPr>
          <a:xfrm>
            <a:off x="11347704"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Challenges</a:t>
            </a:r>
          </a:p>
        </p:txBody>
      </p:sp>
      <p:sp>
        <p:nvSpPr>
          <p:cNvPr id="16" name="Rounded Rectangle 15"/>
          <p:cNvSpPr/>
          <p:nvPr/>
        </p:nvSpPr>
        <p:spPr>
          <a:xfrm>
            <a:off x="11887200" y="228600"/>
            <a:ext cx="502920" cy="274320"/>
          </a:xfrm>
          <a:prstGeom prst="roundRect">
            <a:avLst/>
          </a:prstGeom>
          <a:solidFill>
            <a:srgbClr val="F1F5F9"/>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0" sz="750">
                <a:solidFill>
                  <a:srgbClr val="334155"/>
                </a:solidFill>
              </a:rPr>
              <a:t>Roadmap</a:t>
            </a:r>
          </a:p>
        </p:txBody>
      </p:sp>
      <p:sp>
        <p:nvSpPr>
          <p:cNvPr id="17" name="Rounded Rectangle 16"/>
          <p:cNvSpPr/>
          <p:nvPr/>
        </p:nvSpPr>
        <p:spPr>
          <a:xfrm>
            <a:off x="10469880" y="621792"/>
            <a:ext cx="960120" cy="310896"/>
          </a:xfrm>
          <a:prstGeom prst="roundRect">
            <a:avLst/>
          </a:prstGeom>
          <a:solidFill>
            <a:srgbClr val="0D9488"/>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FFFFFF"/>
                </a:solidFill>
                <a:hlinkClick r:id="rId2"/>
              </a:rPr>
              <a:t>⚡ Live Demo</a:t>
            </a:r>
          </a:p>
        </p:txBody>
      </p:sp>
      <p:sp>
        <p:nvSpPr>
          <p:cNvPr id="18" name="Rounded Rectangle 17"/>
          <p:cNvSpPr/>
          <p:nvPr/>
        </p:nvSpPr>
        <p:spPr>
          <a:xfrm>
            <a:off x="11475720" y="621792"/>
            <a:ext cx="640080" cy="310896"/>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850">
                <a:solidFill>
                  <a:srgbClr val="0F172A"/>
                </a:solidFill>
                <a:hlinkClick r:id="rId3"/>
              </a:rPr>
              <a:t>GitHub</a:t>
            </a:r>
          </a:p>
        </p:txBody>
      </p:sp>
      <p:sp>
        <p:nvSpPr>
          <p:cNvPr id="19" name="Rounded Rectangle 18"/>
          <p:cNvSpPr/>
          <p:nvPr/>
        </p:nvSpPr>
        <p:spPr>
          <a:xfrm>
            <a:off x="731520" y="1234440"/>
            <a:ext cx="10728655"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1344168"/>
            <a:ext cx="10399471" cy="365760"/>
          </a:xfrm>
          <a:prstGeom prst="rect">
            <a:avLst/>
          </a:prstGeom>
          <a:noFill/>
        </p:spPr>
        <p:txBody>
          <a:bodyPr wrap="none">
            <a:spAutoFit/>
          </a:bodyPr>
          <a:lstStyle/>
          <a:p>
            <a:r>
              <a:rPr b="1" sz="1100">
                <a:solidFill>
                  <a:srgbClr val="0F172A"/>
                </a:solidFill>
              </a:rPr>
              <a:t>FINAL PROJECT CONCLUSION</a:t>
            </a:r>
          </a:p>
        </p:txBody>
      </p:sp>
      <p:sp>
        <p:nvSpPr>
          <p:cNvPr id="21" name="TextBox 20"/>
          <p:cNvSpPr txBox="1"/>
          <p:nvPr/>
        </p:nvSpPr>
        <p:spPr>
          <a:xfrm>
            <a:off x="914400" y="1645920"/>
            <a:ext cx="10362895" cy="1645920"/>
          </a:xfrm>
          <a:prstGeom prst="rect">
            <a:avLst/>
          </a:prstGeom>
          <a:noFill/>
        </p:spPr>
        <p:txBody>
          <a:bodyPr wrap="square">
            <a:spAutoFit/>
          </a:bodyPr>
          <a:lstStyle/>
          <a:p>
            <a:r>
              <a:rPr sz="950">
                <a:solidFill>
                  <a:srgbClr val="334155"/>
                </a:solidFill>
              </a:rPr>
              <a:t>The complete engineering journey of Team 65 (Veltrox) from Phase 1 conceptualization to Phase 4 final cloud delivery demonstrates that digital privacy and physical confidentiality can be harmoniously unified without compromising usability.
By fusing InspireFace AI Biometrics, Client-Side WebCrypto AES-GCM, Randomized Digital Steganography, and Ephemeral Forensic Self-Healing, Chatvia successfully eliminates the 'last-inch' presentation vulnerability. With 100% test verification and a live production cloud deployment, Chatvia stands as an innovative, robust, and battle-tested milestone in confidential communication.</a:t>
            </a:r>
          </a:p>
        </p:txBody>
      </p:sp>
      <p:sp>
        <p:nvSpPr>
          <p:cNvPr id="22" name="Rounded Rectangle 21"/>
          <p:cNvSpPr/>
          <p:nvPr/>
        </p:nvSpPr>
        <p:spPr>
          <a:xfrm>
            <a:off x="731520" y="3611880"/>
            <a:ext cx="3456432" cy="1234440"/>
          </a:xfrm>
          <a:prstGeom prst="roundRect">
            <a:avLst/>
          </a:prstGeom>
          <a:solidFill>
            <a:srgbClr val="CCFBF1"/>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050">
                <a:solidFill>
                  <a:srgbClr val="0F172A"/>
                </a:solidFill>
                <a:hlinkClick r:id="rId2"/>
              </a:rPr>
              <a:t>🚀 Launch Live Cloud Application
</a:t>
            </a:r>
          </a:p>
          <a:p>
            <a:pPr algn="ctr"/>
            <a:r>
              <a:rPr b="1" sz="850">
                <a:solidFill>
                  <a:srgbClr val="0F766E"/>
                </a:solidFill>
              </a:rPr>
              <a:t>Public Render Deployment</a:t>
            </a:r>
          </a:p>
        </p:txBody>
      </p:sp>
      <p:sp>
        <p:nvSpPr>
          <p:cNvPr id="23" name="Rounded Rectangle 22"/>
          <p:cNvSpPr/>
          <p:nvPr/>
        </p:nvSpPr>
        <p:spPr>
          <a:xfrm>
            <a:off x="4370832" y="3611880"/>
            <a:ext cx="3456432" cy="1234440"/>
          </a:xfrm>
          <a:prstGeom prst="roundRect">
            <a:avLst/>
          </a:prstGeom>
          <a:solidFill>
            <a:srgbClr val="DBEAFE"/>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050">
                <a:solidFill>
                  <a:srgbClr val="0F172A"/>
                </a:solidFill>
                <a:hlinkClick r:id="rId3"/>
              </a:rPr>
              <a:t>📂 GitHub Source Code Repository
</a:t>
            </a:r>
          </a:p>
          <a:p>
            <a:pPr algn="ctr"/>
            <a:r>
              <a:rPr b="1" sz="850">
                <a:solidFill>
                  <a:srgbClr val="1D4ED8"/>
                </a:solidFill>
              </a:rPr>
              <a:t>Full Source &amp; History</a:t>
            </a:r>
          </a:p>
        </p:txBody>
      </p:sp>
      <p:sp>
        <p:nvSpPr>
          <p:cNvPr id="24" name="Rounded Rectangle 23"/>
          <p:cNvSpPr/>
          <p:nvPr/>
        </p:nvSpPr>
        <p:spPr>
          <a:xfrm>
            <a:off x="8010144" y="3611880"/>
            <a:ext cx="3456432" cy="1234440"/>
          </a:xfrm>
          <a:prstGeom prst="roundRect">
            <a:avLst/>
          </a:prstGeom>
          <a:solidFill>
            <a:srgbClr val="D1FAE5"/>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050">
                <a:solidFill>
                  <a:srgbClr val="0F172A"/>
                </a:solidFill>
                <a:hlinkClick r:id="rId4"/>
              </a:rPr>
              <a:t>📄 Complete Project Documentation
</a:t>
            </a:r>
          </a:p>
          <a:p>
            <a:pPr algn="ctr"/>
            <a:r>
              <a:rPr b="1" sz="850">
                <a:solidFill>
                  <a:srgbClr val="059669"/>
                </a:solidFill>
              </a:rPr>
              <a:t>Phase 4 Master PDF Report</a:t>
            </a:r>
          </a:p>
        </p:txBody>
      </p:sp>
      <p:sp>
        <p:nvSpPr>
          <p:cNvPr id="25" name="Rounded Rectangle 24"/>
          <p:cNvSpPr/>
          <p:nvPr/>
        </p:nvSpPr>
        <p:spPr>
          <a:xfrm>
            <a:off x="731520" y="5029200"/>
            <a:ext cx="10728655" cy="1280160"/>
          </a:xfrm>
          <a:prstGeom prst="roundRect">
            <a:avLst/>
          </a:prstGeom>
          <a:solidFill>
            <a:srgbClr val="FFFFFF"/>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5120640"/>
            <a:ext cx="10362895" cy="1097280"/>
          </a:xfrm>
          <a:prstGeom prst="rect">
            <a:avLst/>
          </a:prstGeom>
          <a:noFill/>
        </p:spPr>
        <p:txBody>
          <a:bodyPr wrap="square">
            <a:spAutoFit/>
          </a:bodyPr>
          <a:lstStyle/>
          <a:p>
            <a:r>
              <a:rPr b="1" sz="1100">
                <a:solidFill>
                  <a:srgbClr val="0F766E"/>
                </a:solidFill>
              </a:rPr>
              <a:t>SUBMITTED BY: TEAM 65 — VELTROX
</a:t>
            </a:r>
            <a:r>
              <a:rPr sz="850">
                <a:solidFill>
                  <a:srgbClr val="334155"/>
                </a:solidFill>
              </a:rPr>
              <a:t>• Kishan Kumar H V (Lead &amp; Cloud/DevOps Architect)    • Santhosh J R (Full-Stack &amp; Biometrics Core Engineer)
• Suhas B R (Security &amp; Steganography Architect)       • Dhruva Kumar V M (Frontend Lead &amp; UI/UX Specialist)
HackMITTen 2026 | Cybersecurity &amp; Applied AI Track | Final Phase 4 Submission Verified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