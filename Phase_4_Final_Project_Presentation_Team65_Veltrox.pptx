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 Id="rId4" Type="http://schemas.openxmlformats.org/officeDocument/2006/relationships/image" Target="../media/image2.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via-app-k7o7.onrender.com/" TargetMode="External"/><Relationship Id="rId3" Type="http://schemas.openxmlformats.org/officeDocument/2006/relationships/hyperlink" Target="https://github.com/Kishan-Kumar-Hv/hmit" TargetMode="External"/><Relationship Id="rId4" Type="http://schemas.openxmlformats.org/officeDocument/2006/relationships/hyperlink" Target="Phase_4_Final_Project_Submission_Veltrox.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31520"/>
            <a:ext cx="3291840" cy="365760"/>
          </a:xfrm>
          <a:prstGeom prst="roundRect">
            <a:avLst/>
          </a:prstGeom>
          <a:solidFill>
            <a:srgbClr val="1E293B"/>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0D9488"/>
                </a:solidFill>
              </a:rPr>
              <a:t>HACKMITTEN 2026 • CYBERSECURITY &amp; AI</a:t>
            </a:r>
          </a:p>
        </p:txBody>
      </p:sp>
      <p:sp>
        <p:nvSpPr>
          <p:cNvPr id="5" name="TextBox 4"/>
          <p:cNvSpPr txBox="1"/>
          <p:nvPr/>
        </p:nvSpPr>
        <p:spPr>
          <a:xfrm>
            <a:off x="731520" y="1188720"/>
            <a:ext cx="10728655" cy="1280160"/>
          </a:xfrm>
          <a:prstGeom prst="rect">
            <a:avLst/>
          </a:prstGeom>
          <a:noFill/>
        </p:spPr>
        <p:txBody>
          <a:bodyPr wrap="none">
            <a:spAutoFit/>
          </a:bodyPr>
          <a:lstStyle/>
          <a:p>
            <a:r>
              <a:rPr b="1" sz="4400">
                <a:solidFill>
                  <a:srgbClr val="FFFFFF"/>
                </a:solidFill>
              </a:rPr>
              <a:t>CHATVIA</a:t>
            </a:r>
          </a:p>
          <a:p>
            <a:r>
              <a:rPr b="1" sz="1700">
                <a:solidFill>
                  <a:srgbClr val="0D9488"/>
                </a:solidFill>
              </a:rPr>
              <a:t>Next-Generation Confidential Messaging with AI Biometrics &amp; Client-Side Steganography</a:t>
            </a:r>
          </a:p>
          <a:p>
            <a:r>
              <a:rPr sz="1150">
                <a:solidFill>
                  <a:srgbClr val="94A3B8"/>
                </a:solidFill>
              </a:rPr>
              <a:t>Eliminating the 'Last-Inch' Presentation Vulnerability through Continuous Facial Verification &amp; Ephemeral Forensic Self-Healing</a:t>
            </a:r>
          </a:p>
        </p:txBody>
      </p:sp>
      <p:sp>
        <p:nvSpPr>
          <p:cNvPr id="6" name="Rounded Rectangle 5"/>
          <p:cNvSpPr/>
          <p:nvPr/>
        </p:nvSpPr>
        <p:spPr>
          <a:xfrm>
            <a:off x="731520" y="3017520"/>
            <a:ext cx="10728655"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154680"/>
            <a:ext cx="10362895" cy="365760"/>
          </a:xfrm>
          <a:prstGeom prst="rect">
            <a:avLst/>
          </a:prstGeom>
          <a:noFill/>
        </p:spPr>
        <p:txBody>
          <a:bodyPr wrap="none">
            <a:spAutoFit/>
          </a:bodyPr>
          <a:lstStyle/>
          <a:p>
            <a:r>
              <a:rPr b="1" sz="1200">
                <a:solidFill>
                  <a:srgbClr val="0D9488"/>
                </a:solidFill>
              </a:rPr>
              <a:t>TEAM 65 — VELTROX | ROLES &amp; CONTRIBUTIONS</a:t>
            </a:r>
          </a:p>
        </p:txBody>
      </p:sp>
      <p:sp>
        <p:nvSpPr>
          <p:cNvPr id="8" name="Rounded Rectangle 7"/>
          <p:cNvSpPr/>
          <p:nvPr/>
        </p:nvSpPr>
        <p:spPr>
          <a:xfrm>
            <a:off x="868680" y="3566160"/>
            <a:ext cx="2542032" cy="2148840"/>
          </a:xfrm>
          <a:prstGeom prst="roundRect">
            <a:avLst/>
          </a:prstGeom>
          <a:solidFill>
            <a:srgbClr val="18212F"/>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Kishan Kumar H V</a:t>
            </a:r>
          </a:p>
          <a:p>
            <a:r>
              <a:rPr b="1" sz="900">
                <a:solidFill>
                  <a:srgbClr val="0D9488"/>
                </a:solidFill>
              </a:rPr>
              <a:t>Team Lead &amp; Cloud/DevOps</a:t>
            </a:r>
          </a:p>
          <a:p>
            <a:r>
              <a:rPr sz="800">
                <a:solidFill>
                  <a:srgbClr val="94A3B8"/>
                </a:solidFill>
              </a:rPr>
              <a:t>Production PaaS deployment on Render, Express 5 reverse proxy, Supabase SSL pooler engineering, system testing &amp; documentation.</a:t>
            </a:r>
          </a:p>
        </p:txBody>
      </p:sp>
      <p:sp>
        <p:nvSpPr>
          <p:cNvPr id="9" name="Rounded Rectangle 8"/>
          <p:cNvSpPr/>
          <p:nvPr/>
        </p:nvSpPr>
        <p:spPr>
          <a:xfrm>
            <a:off x="3502152" y="3566160"/>
            <a:ext cx="2542032" cy="2148840"/>
          </a:xfrm>
          <a:prstGeom prst="roundRect">
            <a:avLst/>
          </a:prstGeom>
          <a:solidFill>
            <a:srgbClr val="18212F"/>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Santhosh J R</a:t>
            </a:r>
          </a:p>
          <a:p>
            <a:r>
              <a:rPr b="1" sz="900">
                <a:solidFill>
                  <a:srgbClr val="0D9488"/>
                </a:solidFill>
              </a:rPr>
              <a:t>Full-Stack &amp; Biometrics</a:t>
            </a:r>
          </a:p>
          <a:p>
            <a:r>
              <a:rPr sz="800">
                <a:solidFill>
                  <a:srgbClr val="94A3B8"/>
                </a:solidFill>
              </a:rPr>
              <a:t>InspireFace AI microservice integration, 512-d feature extraction, WebSocket messaging hub, active surveillance loop &amp; warning banners.</a:t>
            </a:r>
          </a:p>
        </p:txBody>
      </p:sp>
      <p:sp>
        <p:nvSpPr>
          <p:cNvPr id="10" name="Rounded Rectangle 9"/>
          <p:cNvSpPr/>
          <p:nvPr/>
        </p:nvSpPr>
        <p:spPr>
          <a:xfrm>
            <a:off x="6135624" y="3566160"/>
            <a:ext cx="2542032" cy="2148840"/>
          </a:xfrm>
          <a:prstGeom prst="roundRect">
            <a:avLst/>
          </a:prstGeom>
          <a:solidFill>
            <a:srgbClr val="18212F"/>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Suhas B R</a:t>
            </a:r>
          </a:p>
          <a:p>
            <a:r>
              <a:rPr b="1" sz="900">
                <a:solidFill>
                  <a:srgbClr val="0D9488"/>
                </a:solidFill>
              </a:rPr>
              <a:t>Security &amp; Steganography</a:t>
            </a:r>
          </a:p>
          <a:p>
            <a:r>
              <a:rPr sz="800">
                <a:solidFill>
                  <a:srgbClr val="94A3B8"/>
                </a:solidFill>
              </a:rPr>
              <a:t>Client WebCrypto AES-GCM pipeline, friendship secret agreement with PBKDF2 salted hash, IndexedDB keys, and randomized LSB engine.</a:t>
            </a:r>
          </a:p>
        </p:txBody>
      </p:sp>
      <p:sp>
        <p:nvSpPr>
          <p:cNvPr id="11" name="Rounded Rectangle 10"/>
          <p:cNvSpPr/>
          <p:nvPr/>
        </p:nvSpPr>
        <p:spPr>
          <a:xfrm>
            <a:off x="8769096" y="3566160"/>
            <a:ext cx="2542032" cy="2148840"/>
          </a:xfrm>
          <a:prstGeom prst="roundRect">
            <a:avLst/>
          </a:prstGeom>
          <a:solidFill>
            <a:srgbClr val="18212F"/>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rPr>
              <a:t>Dhruva Kumar V M</a:t>
            </a:r>
          </a:p>
          <a:p>
            <a:r>
              <a:rPr b="1" sz="900">
                <a:solidFill>
                  <a:srgbClr val="0D9488"/>
                </a:solidFill>
              </a:rPr>
              <a:t>Frontend Lead &amp; UI/UX</a:t>
            </a:r>
          </a:p>
          <a:p>
            <a:r>
              <a:rPr sz="800">
                <a:solidFill>
                  <a:srgbClr val="94A3B8"/>
                </a:solidFill>
              </a:rPr>
              <a:t>Modern React 19 SPA architecture, responsive Tailwind dark/light theme, WebRTC camera lifecycle, file upload streaming &amp; QA.</a:t>
            </a:r>
          </a:p>
        </p:txBody>
      </p:sp>
      <p:sp>
        <p:nvSpPr>
          <p:cNvPr id="12" name="TextBox 11"/>
          <p:cNvSpPr txBox="1"/>
          <p:nvPr/>
        </p:nvSpPr>
        <p:spPr>
          <a:xfrm>
            <a:off x="731520" y="6172200"/>
            <a:ext cx="10728655" cy="365760"/>
          </a:xfrm>
          <a:prstGeom prst="rect">
            <a:avLst/>
          </a:prstGeom>
          <a:noFill/>
        </p:spPr>
        <p:txBody>
          <a:bodyPr wrap="none">
            <a:spAutoFit/>
          </a:bodyPr>
          <a:lstStyle/>
          <a:p>
            <a:r>
              <a:rPr b="1" sz="1000">
                <a:solidFill>
                  <a:srgbClr val="94A3B8"/>
                </a:solidFill>
              </a:rPr>
              <a:t>⚡ Live Cloud Application: </a:t>
            </a:r>
            <a:r>
              <a:rPr b="1" sz="1000">
                <a:solidFill>
                  <a:srgbClr val="3B82F6"/>
                </a:solidFill>
                <a:hlinkClick r:id="rId2"/>
              </a:rPr>
              <a:t>https://chatvia-app-k7o7.onrender.com/   </a:t>
            </a:r>
            <a:r>
              <a:rPr b="1" sz="1000">
                <a:solidFill>
                  <a:srgbClr val="94A3B8"/>
                </a:solidFill>
              </a:rPr>
              <a:t>•   GitHub Source: </a:t>
            </a:r>
            <a:r>
              <a:rPr b="1" sz="1000">
                <a:solidFill>
                  <a:srgbClr val="3B82F6"/>
                </a:solidFill>
                <a:hlinkClick r:id="rId3"/>
              </a:rPr>
              <a:t>https://github.com/Kishan-Kumar-Hv/hmit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Executive Summary: The Complete Journey (Phases 1 → 4)</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371600"/>
            <a:ext cx="2578608" cy="484632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Phase 1: Initial Analysis
</a:t>
            </a:r>
            <a:r>
              <a:rPr b="1" sz="850">
                <a:solidFill>
                  <a:srgbClr val="0D9488"/>
                </a:solidFill>
              </a:rPr>
              <a:t>IDEATION &amp; CARDBOARD
</a:t>
            </a:r>
          </a:p>
          <a:p>
            <a:pPr>
              <a:spcAft>
                <a:spcPts val="800"/>
              </a:spcAft>
            </a:pPr>
            <a:r>
              <a:rPr sz="900">
                <a:solidFill>
                  <a:srgbClr val="E2E8F0"/>
                </a:solidFill>
              </a:rPr>
              <a:t>• Brainstormed physical snooping threat models</a:t>
            </a:r>
          </a:p>
          <a:p>
            <a:pPr>
              <a:spcAft>
                <a:spcPts val="800"/>
              </a:spcAft>
            </a:pPr>
            <a:r>
              <a:rPr sz="900">
                <a:solidFill>
                  <a:srgbClr val="E2E8F0"/>
                </a:solidFill>
              </a:rPr>
              <a:t>• Conceived 3-tier defense on physical cardboard</a:t>
            </a:r>
          </a:p>
          <a:p>
            <a:pPr>
              <a:spcAft>
                <a:spcPts val="800"/>
              </a:spcAft>
            </a:pPr>
            <a:r>
              <a:rPr sz="900">
                <a:solidFill>
                  <a:srgbClr val="E2E8F0"/>
                </a:solidFill>
              </a:rPr>
              <a:t>• Rejected heavy client WASM in favor of backend AI</a:t>
            </a:r>
          </a:p>
          <a:p>
            <a:pPr>
              <a:spcAft>
                <a:spcPts val="800"/>
              </a:spcAft>
            </a:pPr>
            <a:r>
              <a:rPr sz="900">
                <a:solidFill>
                  <a:srgbClr val="E2E8F0"/>
                </a:solidFill>
              </a:rPr>
              <a:t>• Established privacy rule: Zero raw facial photos saved</a:t>
            </a:r>
          </a:p>
          <a:p>
            <a:pPr>
              <a:spcAft>
                <a:spcPts val="800"/>
              </a:spcAft>
            </a:pPr>
            <a:r>
              <a:rPr sz="900">
                <a:solidFill>
                  <a:srgbClr val="E2E8F0"/>
                </a:solidFill>
              </a:rPr>
              <a:t>• Designed randomized PRNG LSB steganography</a:t>
            </a:r>
          </a:p>
        </p:txBody>
      </p:sp>
      <p:sp>
        <p:nvSpPr>
          <p:cNvPr id="8" name="Rounded Rectangle 7"/>
          <p:cNvSpPr/>
          <p:nvPr/>
        </p:nvSpPr>
        <p:spPr>
          <a:xfrm>
            <a:off x="3456432" y="1371600"/>
            <a:ext cx="2578608" cy="48463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Phase 2: Implementation
</a:t>
            </a:r>
            <a:r>
              <a:rPr b="1" sz="850">
                <a:solidFill>
                  <a:srgbClr val="3B82F6"/>
                </a:solidFill>
              </a:rPr>
              <a:t>ENGINEERING SPRINTS
</a:t>
            </a:r>
          </a:p>
          <a:p>
            <a:pPr>
              <a:spcAft>
                <a:spcPts val="800"/>
              </a:spcAft>
            </a:pPr>
            <a:r>
              <a:rPr sz="900">
                <a:solidFill>
                  <a:srgbClr val="E2E8F0"/>
                </a:solidFill>
              </a:rPr>
              <a:t>• Sprint 1: Auth &amp; InspireFace 512-d embeddings</a:t>
            </a:r>
          </a:p>
          <a:p>
            <a:pPr>
              <a:spcAft>
                <a:spcPts val="800"/>
              </a:spcAft>
            </a:pPr>
            <a:r>
              <a:rPr sz="900">
                <a:solidFill>
                  <a:srgbClr val="E2E8F0"/>
                </a:solidFill>
              </a:rPr>
              <a:t>• Sprint 2: WebSocket instant chat &amp; 25MB attachments</a:t>
            </a:r>
          </a:p>
          <a:p>
            <a:pPr>
              <a:spcAft>
                <a:spcPts val="800"/>
              </a:spcAft>
            </a:pPr>
            <a:r>
              <a:rPr sz="900">
                <a:solidFill>
                  <a:srgbClr val="E2E8F0"/>
                </a:solidFill>
              </a:rPr>
              <a:t>• Sprint 3: WebCrypto AES-GCM + IndexedDB key cache</a:t>
            </a:r>
          </a:p>
          <a:p>
            <a:pPr>
              <a:spcAft>
                <a:spcPts val="800"/>
              </a:spcAft>
            </a:pPr>
            <a:r>
              <a:rPr sz="900">
                <a:solidFill>
                  <a:srgbClr val="E2E8F0"/>
                </a:solidFill>
              </a:rPr>
              <a:t>• Sprint 4: Active face surveillance loop &amp; timeout aborts</a:t>
            </a:r>
          </a:p>
          <a:p>
            <a:pPr>
              <a:spcAft>
                <a:spcPts val="800"/>
              </a:spcAft>
            </a:pPr>
            <a:r>
              <a:rPr sz="900">
                <a:solidFill>
                  <a:srgbClr val="E2E8F0"/>
                </a:solidFill>
              </a:rPr>
              <a:t>• Unified single-port Express 5 SPA reverse proxy</a:t>
            </a:r>
          </a:p>
        </p:txBody>
      </p:sp>
      <p:sp>
        <p:nvSpPr>
          <p:cNvPr id="9" name="Rounded Rectangle 8"/>
          <p:cNvSpPr/>
          <p:nvPr/>
        </p:nvSpPr>
        <p:spPr>
          <a:xfrm>
            <a:off x="6181344" y="1371600"/>
            <a:ext cx="2578608" cy="48463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Phase 3: Testing &amp; Security
</a:t>
            </a:r>
            <a:r>
              <a:rPr b="1" sz="850">
                <a:solidFill>
                  <a:srgbClr val="F59E0B"/>
                </a:solidFill>
              </a:rPr>
              <a:t>VERIFICATION &amp; QA
</a:t>
            </a:r>
          </a:p>
          <a:p>
            <a:pPr>
              <a:spcAft>
                <a:spcPts val="800"/>
              </a:spcAft>
            </a:pPr>
            <a:r>
              <a:rPr sz="900">
                <a:solidFill>
                  <a:srgbClr val="E2E8F0"/>
                </a:solidFill>
              </a:rPr>
              <a:t>• Executed 20 rigorous test cases (100% Pass)</a:t>
            </a:r>
          </a:p>
          <a:p>
            <a:pPr>
              <a:spcAft>
                <a:spcPts val="800"/>
              </a:spcAft>
            </a:pPr>
            <a:r>
              <a:rPr sz="900">
                <a:solidFill>
                  <a:srgbClr val="E2E8F0"/>
                </a:solidFill>
              </a:rPr>
              <a:t>• Validated single vs multi-face gating</a:t>
            </a:r>
          </a:p>
          <a:p>
            <a:pPr>
              <a:spcAft>
                <a:spcPts val="800"/>
              </a:spcAft>
            </a:pPr>
            <a:r>
              <a:rPr sz="900">
                <a:solidFill>
                  <a:srgbClr val="E2E8F0"/>
                </a:solidFill>
              </a:rPr>
              <a:t>• Tested shoulder-surfing instant auto-concealment</a:t>
            </a:r>
          </a:p>
          <a:p>
            <a:pPr>
              <a:spcAft>
                <a:spcPts val="800"/>
              </a:spcAft>
            </a:pPr>
            <a:r>
              <a:rPr sz="900">
                <a:solidFill>
                  <a:srgbClr val="E2E8F0"/>
                </a:solidFill>
              </a:rPr>
              <a:t>• Verified 25MB attachment quota boundary</a:t>
            </a:r>
          </a:p>
          <a:p>
            <a:pPr>
              <a:spcAft>
                <a:spcPts val="800"/>
              </a:spcAft>
            </a:pPr>
            <a:r>
              <a:rPr sz="900">
                <a:solidFill>
                  <a:srgbClr val="E2E8F0"/>
                </a:solidFill>
              </a:rPr>
              <a:t>• Proved database ephemeral self-healing cleanup</a:t>
            </a:r>
          </a:p>
        </p:txBody>
      </p:sp>
      <p:sp>
        <p:nvSpPr>
          <p:cNvPr id="10" name="Rounded Rectangle 9"/>
          <p:cNvSpPr/>
          <p:nvPr/>
        </p:nvSpPr>
        <p:spPr>
          <a:xfrm>
            <a:off x="8906256" y="1371600"/>
            <a:ext cx="2578608" cy="48463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Phase 4: Cloud Delivery
</a:t>
            </a:r>
            <a:r>
              <a:rPr b="1" sz="850">
                <a:solidFill>
                  <a:srgbClr val="10B981"/>
                </a:solidFill>
              </a:rPr>
              <a:t>PRODUCTION LAUNCH
</a:t>
            </a:r>
          </a:p>
          <a:p>
            <a:pPr>
              <a:spcAft>
                <a:spcPts val="800"/>
              </a:spcAft>
            </a:pPr>
            <a:r>
              <a:rPr sz="900">
                <a:solidFill>
                  <a:srgbClr val="E2E8F0"/>
                </a:solidFill>
              </a:rPr>
              <a:t>• Production PaaS deployment on Render</a:t>
            </a:r>
          </a:p>
          <a:p>
            <a:pPr>
              <a:spcAft>
                <a:spcPts val="800"/>
              </a:spcAft>
            </a:pPr>
            <a:r>
              <a:rPr sz="900">
                <a:solidFill>
                  <a:srgbClr val="E2E8F0"/>
                </a:solidFill>
              </a:rPr>
              <a:t>• Supabase PostgreSQL pooler integration with SSL</a:t>
            </a:r>
          </a:p>
          <a:p>
            <a:pPr>
              <a:spcAft>
                <a:spcPts val="800"/>
              </a:spcAft>
            </a:pPr>
            <a:r>
              <a:rPr sz="900">
                <a:solidFill>
                  <a:srgbClr val="E2E8F0"/>
                </a:solidFill>
              </a:rPr>
              <a:t>• Automated CI/CD build from GitHub main branch</a:t>
            </a:r>
          </a:p>
          <a:p>
            <a:pPr>
              <a:spcAft>
                <a:spcPts val="800"/>
              </a:spcAft>
            </a:pPr>
            <a:r>
              <a:rPr sz="900">
                <a:solidFill>
                  <a:srgbClr val="E2E8F0"/>
                </a:solidFill>
              </a:rPr>
              <a:t>• Sub-80ms message delivery; sub-70ms face verification</a:t>
            </a:r>
          </a:p>
          <a:p>
            <a:pPr>
              <a:spcAft>
                <a:spcPts val="800"/>
              </a:spcAft>
            </a:pPr>
            <a:r>
              <a:rPr sz="900">
                <a:solidFill>
                  <a:srgbClr val="E2E8F0"/>
                </a:solidFill>
              </a:rPr>
              <a:t>• Comprehensive technical documentation &amp; 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Problem Statement &amp; The 'Last-Inch' Vulnerability Gap</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10728655"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a:p>
            <a:pPr>
              <a:spcBef>
                <a:spcPts val="1600"/>
              </a:spcBef>
            </a:pPr>
            <a:r>
              <a:rPr i="1" sz="1000">
                <a:solidFill>
                  <a:srgbClr val="E2E8F0"/>
                </a:solidFill>
              </a:rPr>
              <a:t>"Design and engineer a real-time secure communication system that eliminates vulnerabilities in both data transmission and physical message presentation. The application must guarantee that confidential exchanges remain fully protected from over-the-shoulder eavesdropping, unauthorized physical device access, and persistent forensic extraction, while providing zero-knowledge verifiable privacy and high usability."</a:t>
            </a:r>
          </a:p>
        </p:txBody>
      </p:sp>
      <p:sp>
        <p:nvSpPr>
          <p:cNvPr id="8" name="TextBox 7"/>
          <p:cNvSpPr txBox="1"/>
          <p:nvPr/>
        </p:nvSpPr>
        <p:spPr>
          <a:xfrm>
            <a:off x="914400" y="1417320"/>
            <a:ext cx="10362895" cy="365760"/>
          </a:xfrm>
          <a:prstGeom prst="rect">
            <a:avLst/>
          </a:prstGeom>
          <a:noFill/>
        </p:spPr>
        <p:txBody>
          <a:bodyPr wrap="none">
            <a:spAutoFit/>
          </a:bodyPr>
          <a:lstStyle/>
          <a:p>
            <a:r>
              <a:rPr b="1" sz="1200">
                <a:solidFill>
                  <a:srgbClr val="0D9488"/>
                </a:solidFill>
              </a:rPr>
              <a:t>ORIGINAL PROBLEM STATEMENT ASSIGNED TO TEAM 65</a:t>
            </a:r>
          </a:p>
        </p:txBody>
      </p:sp>
      <p:sp>
        <p:nvSpPr>
          <p:cNvPr id="9" name="Rounded Rectangle 8"/>
          <p:cNvSpPr/>
          <p:nvPr/>
        </p:nvSpPr>
        <p:spPr>
          <a:xfrm>
            <a:off x="731520" y="2697480"/>
            <a:ext cx="5285232" cy="16916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34640"/>
            <a:ext cx="4919472" cy="365760"/>
          </a:xfrm>
          <a:prstGeom prst="rect">
            <a:avLst/>
          </a:prstGeom>
          <a:noFill/>
        </p:spPr>
        <p:txBody>
          <a:bodyPr wrap="none">
            <a:spAutoFit/>
          </a:bodyPr>
          <a:lstStyle/>
          <a:p>
            <a:r>
              <a:rPr b="1" sz="1200">
                <a:solidFill>
                  <a:srgbClr val="0D9488"/>
                </a:solidFill>
              </a:rPr>
              <a:t>1. The 'Last-Inch' Presentation Gap</a:t>
            </a:r>
          </a:p>
        </p:txBody>
      </p:sp>
      <p:sp>
        <p:nvSpPr>
          <p:cNvPr id="11" name="TextBox 10"/>
          <p:cNvSpPr txBox="1"/>
          <p:nvPr/>
        </p:nvSpPr>
        <p:spPr>
          <a:xfrm>
            <a:off x="914400" y="3108960"/>
            <a:ext cx="4919472" cy="1097280"/>
          </a:xfrm>
          <a:prstGeom prst="rect">
            <a:avLst/>
          </a:prstGeom>
          <a:noFill/>
        </p:spPr>
        <p:txBody>
          <a:bodyPr wrap="square">
            <a:spAutoFit/>
          </a:bodyPr>
          <a:lstStyle/>
          <a:p>
            <a:r>
              <a:rPr sz="950">
                <a:solidFill>
                  <a:srgbClr val="E2E8F0"/>
                </a:solidFill>
              </a:rPr>
              <a:t>Conventional E2EE (Signal, WhatsApp) encrypts data in flight, but once decrypted onto the screen, it is fully vulnerable to shoulder surfers, bystanders, and unauthorized onlookers in coffee shops, transit, or offices.</a:t>
            </a:r>
          </a:p>
        </p:txBody>
      </p:sp>
      <p:sp>
        <p:nvSpPr>
          <p:cNvPr id="12" name="Rounded Rectangle 11"/>
          <p:cNvSpPr/>
          <p:nvPr/>
        </p:nvSpPr>
        <p:spPr>
          <a:xfrm>
            <a:off x="6172200" y="2697480"/>
            <a:ext cx="5285232" cy="16916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2834640"/>
            <a:ext cx="4919472" cy="365760"/>
          </a:xfrm>
          <a:prstGeom prst="rect">
            <a:avLst/>
          </a:prstGeom>
          <a:noFill/>
        </p:spPr>
        <p:txBody>
          <a:bodyPr wrap="none">
            <a:spAutoFit/>
          </a:bodyPr>
          <a:lstStyle/>
          <a:p>
            <a:r>
              <a:rPr b="1" sz="1200">
                <a:solidFill>
                  <a:srgbClr val="0D9488"/>
                </a:solidFill>
              </a:rPr>
              <a:t>2. Static vs Continuous Auth</a:t>
            </a:r>
          </a:p>
        </p:txBody>
      </p:sp>
      <p:sp>
        <p:nvSpPr>
          <p:cNvPr id="14" name="TextBox 13"/>
          <p:cNvSpPr txBox="1"/>
          <p:nvPr/>
        </p:nvSpPr>
        <p:spPr>
          <a:xfrm>
            <a:off x="6355080" y="3108960"/>
            <a:ext cx="4919472" cy="1097280"/>
          </a:xfrm>
          <a:prstGeom prst="rect">
            <a:avLst/>
          </a:prstGeom>
          <a:noFill/>
        </p:spPr>
        <p:txBody>
          <a:bodyPr wrap="square">
            <a:spAutoFit/>
          </a:bodyPr>
          <a:lstStyle/>
          <a:p>
            <a:r>
              <a:rPr sz="950">
                <a:solidFill>
                  <a:srgbClr val="E2E8F0"/>
                </a:solidFill>
              </a:rPr>
              <a:t>Face ID and PIN locks authenticate identity only ONCE when opening the application. If the unlocked phone is set down, passed to a colleague, or seized, any person can scroll through confidential chats unchecked.</a:t>
            </a:r>
          </a:p>
        </p:txBody>
      </p:sp>
      <p:sp>
        <p:nvSpPr>
          <p:cNvPr id="15" name="Rounded Rectangle 14"/>
          <p:cNvSpPr/>
          <p:nvPr/>
        </p:nvSpPr>
        <p:spPr>
          <a:xfrm>
            <a:off x="731520" y="4571999"/>
            <a:ext cx="5285232" cy="16916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709159"/>
            <a:ext cx="4919472" cy="365760"/>
          </a:xfrm>
          <a:prstGeom prst="rect">
            <a:avLst/>
          </a:prstGeom>
          <a:noFill/>
        </p:spPr>
        <p:txBody>
          <a:bodyPr wrap="none">
            <a:spAutoFit/>
          </a:bodyPr>
          <a:lstStyle/>
          <a:p>
            <a:r>
              <a:rPr b="1" sz="1200">
                <a:solidFill>
                  <a:srgbClr val="0D9488"/>
                </a:solidFill>
              </a:rPr>
              <a:t>3. Persistent Forensic Media Residue</a:t>
            </a:r>
          </a:p>
        </p:txBody>
      </p:sp>
      <p:sp>
        <p:nvSpPr>
          <p:cNvPr id="17" name="TextBox 16"/>
          <p:cNvSpPr txBox="1"/>
          <p:nvPr/>
        </p:nvSpPr>
        <p:spPr>
          <a:xfrm>
            <a:off x="914400" y="4983479"/>
            <a:ext cx="4919472" cy="1097280"/>
          </a:xfrm>
          <a:prstGeom prst="rect">
            <a:avLst/>
          </a:prstGeom>
          <a:noFill/>
        </p:spPr>
        <p:txBody>
          <a:bodyPr wrap="square">
            <a:spAutoFit/>
          </a:bodyPr>
          <a:lstStyle/>
          <a:p>
            <a:r>
              <a:rPr sz="950">
                <a:solidFill>
                  <a:srgbClr val="E2E8F0"/>
                </a:solidFill>
              </a:rPr>
              <a:t>Standard apps persist decrypted media to disk, gallery caches, and SQLite databases. Even after 'deleting' messages, forensic tools easily extract image artifacts from operating system flash blocks.</a:t>
            </a:r>
          </a:p>
        </p:txBody>
      </p:sp>
      <p:sp>
        <p:nvSpPr>
          <p:cNvPr id="18" name="Rounded Rectangle 17"/>
          <p:cNvSpPr/>
          <p:nvPr/>
        </p:nvSpPr>
        <p:spPr>
          <a:xfrm>
            <a:off x="6172200" y="4571999"/>
            <a:ext cx="5285232" cy="16916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709159"/>
            <a:ext cx="4919472" cy="365760"/>
          </a:xfrm>
          <a:prstGeom prst="rect">
            <a:avLst/>
          </a:prstGeom>
          <a:noFill/>
        </p:spPr>
        <p:txBody>
          <a:bodyPr wrap="none">
            <a:spAutoFit/>
          </a:bodyPr>
          <a:lstStyle/>
          <a:p>
            <a:r>
              <a:rPr b="1" sz="1200">
                <a:solidFill>
                  <a:srgbClr val="0D9488"/>
                </a:solidFill>
              </a:rPr>
              <a:t>4. Traffic Observability &amp; Deniability</a:t>
            </a:r>
          </a:p>
        </p:txBody>
      </p:sp>
      <p:sp>
        <p:nvSpPr>
          <p:cNvPr id="20" name="TextBox 19"/>
          <p:cNvSpPr txBox="1"/>
          <p:nvPr/>
        </p:nvSpPr>
        <p:spPr>
          <a:xfrm>
            <a:off x="6355080" y="4983479"/>
            <a:ext cx="4919472" cy="1097280"/>
          </a:xfrm>
          <a:prstGeom prst="rect">
            <a:avLst/>
          </a:prstGeom>
          <a:noFill/>
        </p:spPr>
        <p:txBody>
          <a:bodyPr wrap="square">
            <a:spAutoFit/>
          </a:bodyPr>
          <a:lstStyle/>
          <a:p>
            <a:r>
              <a:rPr sz="950">
                <a:solidFill>
                  <a:srgbClr val="E2E8F0"/>
                </a:solidFill>
              </a:rPr>
              <a:t>Sending raw encrypted payloads alerts network firewalls and eavesdroppers that sensitive data is in transit. Users lack plausible deniability without covert carrier concealment.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Proposed Solution: Multi-Layered Zero-Trust Architecture</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2578608" cy="493776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FFFFFF"/>
                </a:solidFill>
              </a:rPr>
              <a:t>AI Biometric Active Shield
</a:t>
            </a:r>
            <a:r>
              <a:rPr b="1" sz="850">
                <a:solidFill>
                  <a:srgbClr val="0D9488"/>
                </a:solidFill>
              </a:rPr>
              <a:t>Continuous Facial Verification
</a:t>
            </a:r>
          </a:p>
          <a:p>
            <a:pPr>
              <a:spcAft>
                <a:spcPts val="700"/>
              </a:spcAft>
            </a:pPr>
            <a:r>
              <a:rPr sz="850">
                <a:solidFill>
                  <a:srgbClr val="E2E8F0"/>
                </a:solidFill>
              </a:rPr>
              <a:t>• InspireFace Deep Learning SDK</a:t>
            </a:r>
          </a:p>
          <a:p>
            <a:pPr>
              <a:spcAft>
                <a:spcPts val="700"/>
              </a:spcAft>
            </a:pPr>
            <a:r>
              <a:rPr sz="850">
                <a:solidFill>
                  <a:srgbClr val="E2E8F0"/>
                </a:solidFill>
              </a:rPr>
              <a:t>• 512-dimensional facial embedding vectors</a:t>
            </a:r>
          </a:p>
          <a:p>
            <a:pPr>
              <a:spcAft>
                <a:spcPts val="700"/>
              </a:spcAft>
            </a:pPr>
            <a:r>
              <a:rPr sz="850">
                <a:solidFill>
                  <a:srgbClr val="E2E8F0"/>
                </a:solidFill>
              </a:rPr>
              <a:t>• Cosine similarity thresholding (&gt;= 0.70)</a:t>
            </a:r>
          </a:p>
          <a:p>
            <a:pPr>
              <a:spcAft>
                <a:spcPts val="700"/>
              </a:spcAft>
            </a:pPr>
            <a:r>
              <a:rPr sz="850">
                <a:solidFill>
                  <a:srgbClr val="E2E8F0"/>
                </a:solidFill>
              </a:rPr>
              <a:t>• Enforces exactly 1 face present at all times</a:t>
            </a:r>
          </a:p>
          <a:p>
            <a:pPr>
              <a:spcAft>
                <a:spcPts val="700"/>
              </a:spcAft>
            </a:pPr>
            <a:r>
              <a:rPr sz="850">
                <a:solidFill>
                  <a:srgbClr val="E2E8F0"/>
                </a:solidFill>
              </a:rPr>
              <a:t>• Continuous 1.5s background surveillance loop</a:t>
            </a:r>
          </a:p>
          <a:p>
            <a:pPr>
              <a:spcAft>
                <a:spcPts val="700"/>
              </a:spcAft>
            </a:pPr>
            <a:r>
              <a:rPr sz="850">
                <a:solidFill>
                  <a:srgbClr val="E2E8F0"/>
                </a:solidFill>
              </a:rPr>
              <a:t>• Auto-conceals immediately if user turns away or bystander detected</a:t>
            </a:r>
          </a:p>
        </p:txBody>
      </p:sp>
      <p:sp>
        <p:nvSpPr>
          <p:cNvPr id="8" name="Rounded Rectangle 7"/>
          <p:cNvSpPr/>
          <p:nvPr/>
        </p:nvSpPr>
        <p:spPr>
          <a:xfrm>
            <a:off x="3456432" y="1280160"/>
            <a:ext cx="2578608" cy="493776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FFFFFF"/>
                </a:solidFill>
              </a:rPr>
              <a:t>Randomized Steganography
</a:t>
            </a:r>
            <a:r>
              <a:rPr b="1" sz="850">
                <a:solidFill>
                  <a:srgbClr val="3B82F6"/>
                </a:solidFill>
              </a:rPr>
              <a:t>Plausible Deniability Transport
</a:t>
            </a:r>
          </a:p>
          <a:p>
            <a:pPr>
              <a:spcAft>
                <a:spcPts val="700"/>
              </a:spcAft>
            </a:pPr>
            <a:r>
              <a:rPr sz="850">
                <a:solidFill>
                  <a:srgbClr val="E2E8F0"/>
                </a:solidFill>
              </a:rPr>
              <a:t>• Disguises secret text inside innocent PNGs</a:t>
            </a:r>
          </a:p>
          <a:p>
            <a:pPr>
              <a:spcAft>
                <a:spcPts val="700"/>
              </a:spcAft>
            </a:pPr>
            <a:r>
              <a:rPr sz="850">
                <a:solidFill>
                  <a:srgbClr val="E2E8F0"/>
                </a:solidFill>
              </a:rPr>
              <a:t>• 24-byte header with CVS1 magic tag</a:t>
            </a:r>
          </a:p>
          <a:p>
            <a:pPr>
              <a:spcAft>
                <a:spcPts val="700"/>
              </a:spcAft>
            </a:pPr>
            <a:r>
              <a:rPr sz="850">
                <a:solidFill>
                  <a:srgbClr val="E2E8F0"/>
                </a:solidFill>
              </a:rPr>
              <a:t>• 16-byte cryptographically secure PRNG seed</a:t>
            </a:r>
          </a:p>
          <a:p>
            <a:pPr>
              <a:spcAft>
                <a:spcPts val="700"/>
              </a:spcAft>
            </a:pPr>
            <a:r>
              <a:rPr sz="850">
                <a:solidFill>
                  <a:srgbClr val="E2E8F0"/>
                </a:solidFill>
              </a:rPr>
              <a:t>• Uniform pseudo-random pixel channel scattering</a:t>
            </a:r>
          </a:p>
          <a:p>
            <a:pPr>
              <a:spcAft>
                <a:spcPts val="700"/>
              </a:spcAft>
            </a:pPr>
            <a:r>
              <a:rPr sz="850">
                <a:solidFill>
                  <a:srgbClr val="E2E8F0"/>
                </a:solidFill>
              </a:rPr>
              <a:t>• Zero perceptible visual distortion in images</a:t>
            </a:r>
          </a:p>
          <a:p>
            <a:pPr>
              <a:spcAft>
                <a:spcPts val="700"/>
              </a:spcAft>
            </a:pPr>
            <a:r>
              <a:rPr sz="850">
                <a:solidFill>
                  <a:srgbClr val="E2E8F0"/>
                </a:solidFill>
              </a:rPr>
              <a:t>• Protects against network payload inspection</a:t>
            </a:r>
          </a:p>
        </p:txBody>
      </p:sp>
      <p:sp>
        <p:nvSpPr>
          <p:cNvPr id="9" name="Rounded Rectangle 8"/>
          <p:cNvSpPr/>
          <p:nvPr/>
        </p:nvSpPr>
        <p:spPr>
          <a:xfrm>
            <a:off x="6181344" y="1280160"/>
            <a:ext cx="2578608" cy="49377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FFFFFF"/>
                </a:solidFill>
              </a:rPr>
              <a:t>Client-Side WebCrypto
</a:t>
            </a:r>
            <a:r>
              <a:rPr b="1" sz="850">
                <a:solidFill>
                  <a:srgbClr val="10B981"/>
                </a:solidFill>
              </a:rPr>
              <a:t>Zero-Knowledge Key Agreement
</a:t>
            </a:r>
          </a:p>
          <a:p>
            <a:pPr>
              <a:spcAft>
                <a:spcPts val="700"/>
              </a:spcAft>
            </a:pPr>
            <a:r>
              <a:rPr sz="850">
                <a:solidFill>
                  <a:srgbClr val="E2E8F0"/>
                </a:solidFill>
              </a:rPr>
              <a:t>• Out-of-band mutual friendship passphrase</a:t>
            </a:r>
          </a:p>
          <a:p>
            <a:pPr>
              <a:spcAft>
                <a:spcPts val="700"/>
              </a:spcAft>
            </a:pPr>
            <a:r>
              <a:rPr sz="850">
                <a:solidFill>
                  <a:srgbClr val="E2E8F0"/>
                </a:solidFill>
              </a:rPr>
              <a:t>• Client PBKDF2-SHA256 (100k rounds) derivation</a:t>
            </a:r>
          </a:p>
          <a:p>
            <a:pPr>
              <a:spcAft>
                <a:spcPts val="700"/>
              </a:spcAft>
            </a:pPr>
            <a:r>
              <a:rPr sz="850">
                <a:solidFill>
                  <a:srgbClr val="E2E8F0"/>
                </a:solidFill>
              </a:rPr>
              <a:t>• AES-GCM-256 authenticated encryption</a:t>
            </a:r>
          </a:p>
          <a:p>
            <a:pPr>
              <a:spcAft>
                <a:spcPts val="700"/>
              </a:spcAft>
            </a:pPr>
            <a:r>
              <a:rPr sz="850">
                <a:solidFill>
                  <a:srgbClr val="E2E8F0"/>
                </a:solidFill>
              </a:rPr>
              <a:t>• Keys marked non-exportable in IndexedDB</a:t>
            </a:r>
          </a:p>
          <a:p>
            <a:pPr>
              <a:spcAft>
                <a:spcPts val="700"/>
              </a:spcAft>
            </a:pPr>
            <a:r>
              <a:rPr sz="850">
                <a:solidFill>
                  <a:srgbClr val="E2E8F0"/>
                </a:solidFill>
              </a:rPr>
              <a:t>• Server receives only salted verifier hash</a:t>
            </a:r>
          </a:p>
          <a:p>
            <a:pPr>
              <a:spcAft>
                <a:spcPts val="700"/>
              </a:spcAft>
            </a:pPr>
            <a:r>
              <a:rPr sz="850">
                <a:solidFill>
                  <a:srgbClr val="E2E8F0"/>
                </a:solidFill>
              </a:rPr>
              <a:t>• Server never has access to plaintext or keys</a:t>
            </a:r>
          </a:p>
        </p:txBody>
      </p:sp>
      <p:sp>
        <p:nvSpPr>
          <p:cNvPr id="10" name="Rounded Rectangle 9"/>
          <p:cNvSpPr/>
          <p:nvPr/>
        </p:nvSpPr>
        <p:spPr>
          <a:xfrm>
            <a:off x="8906256" y="1280160"/>
            <a:ext cx="2578608" cy="49377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FFFFFF"/>
                </a:solidFill>
              </a:rPr>
              <a:t>Forensic Self-Healing
</a:t>
            </a:r>
            <a:r>
              <a:rPr b="1" sz="850">
                <a:solidFill>
                  <a:srgbClr val="F59E0B"/>
                </a:solidFill>
              </a:rPr>
              <a:t>Ephemeral Database Destruction
</a:t>
            </a:r>
          </a:p>
          <a:p>
            <a:pPr>
              <a:spcAft>
                <a:spcPts val="700"/>
              </a:spcAft>
            </a:pPr>
            <a:r>
              <a:rPr sz="850">
                <a:solidFill>
                  <a:srgbClr val="E2E8F0"/>
                </a:solidFill>
              </a:rPr>
              <a:t>• One-time secure message consumption</a:t>
            </a:r>
          </a:p>
          <a:p>
            <a:pPr>
              <a:spcAft>
                <a:spcPts val="700"/>
              </a:spcAft>
            </a:pPr>
            <a:r>
              <a:rPr sz="850">
                <a:solidFill>
                  <a:srgbClr val="E2E8F0"/>
                </a:solidFill>
              </a:rPr>
              <a:t>• Atomic PostgreSQL database transaction</a:t>
            </a:r>
          </a:p>
          <a:p>
            <a:pPr>
              <a:spcAft>
                <a:spcPts val="700"/>
              </a:spcAft>
            </a:pPr>
            <a:r>
              <a:rPr sz="850">
                <a:solidFill>
                  <a:srgbClr val="E2E8F0"/>
                </a:solidFill>
              </a:rPr>
              <a:t>• Restores clean original carrier PNG to attachments</a:t>
            </a:r>
          </a:p>
          <a:p>
            <a:pPr>
              <a:spcAft>
                <a:spcPts val="700"/>
              </a:spcAft>
            </a:pPr>
            <a:r>
              <a:rPr sz="850">
                <a:solidFill>
                  <a:srgbClr val="E2E8F0"/>
                </a:solidFill>
              </a:rPr>
              <a:t>• Permanently nullifies original_png backup</a:t>
            </a:r>
          </a:p>
          <a:p>
            <a:pPr>
              <a:spcAft>
                <a:spcPts val="700"/>
              </a:spcAft>
            </a:pPr>
            <a:r>
              <a:rPr sz="850">
                <a:solidFill>
                  <a:srgbClr val="E2E8F0"/>
                </a:solidFill>
              </a:rPr>
              <a:t>• Eliminates forensic stego traces on disk</a:t>
            </a:r>
          </a:p>
          <a:p>
            <a:pPr>
              <a:spcAft>
                <a:spcPts val="700"/>
              </a:spcAft>
            </a:pPr>
            <a:r>
              <a:rPr sz="850">
                <a:solidFill>
                  <a:srgbClr val="E2E8F0"/>
                </a:solidFill>
              </a:rPr>
              <a:t>• Guarantees forward secrecy post-viewing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Methodology: End-to-End System Workflow (8 Phases)</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371600"/>
            <a:ext cx="2578608" cy="224028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00">
                <a:solidFill>
                  <a:srgbClr val="0D9488"/>
                </a:solidFill>
              </a:rPr>
              <a:t>PHASE 01
</a:t>
            </a:r>
            <a:r>
              <a:rPr b="1" sz="1100">
                <a:solidFill>
                  <a:srgbClr val="FFFFFF"/>
                </a:solidFill>
              </a:rPr>
              <a:t>Registration &amp; Consent
</a:t>
            </a:r>
          </a:p>
          <a:p>
            <a:r>
              <a:rPr sz="850">
                <a:solidFill>
                  <a:srgbClr val="E2E8F0"/>
                </a:solidFill>
              </a:rPr>
              <a:t>Camera captures face; InspireFace validates exactly 1 face; 512-d template encrypted via AES-256-GCM; raw image purged.</a:t>
            </a:r>
          </a:p>
        </p:txBody>
      </p:sp>
      <p:sp>
        <p:nvSpPr>
          <p:cNvPr id="8" name="Rounded Rectangle 7"/>
          <p:cNvSpPr/>
          <p:nvPr/>
        </p:nvSpPr>
        <p:spPr>
          <a:xfrm>
            <a:off x="3456432" y="1371600"/>
            <a:ext cx="2578608" cy="224028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00">
                <a:solidFill>
                  <a:srgbClr val="0D9488"/>
                </a:solidFill>
              </a:rPr>
              <a:t>PHASE 02
</a:t>
            </a:r>
            <a:r>
              <a:rPr b="1" sz="1100">
                <a:solidFill>
                  <a:srgbClr val="FFFFFF"/>
                </a:solidFill>
              </a:rPr>
              <a:t>Friendship Handshake
</a:t>
            </a:r>
          </a:p>
          <a:p>
            <a:r>
              <a:rPr sz="850">
                <a:solidFill>
                  <a:srgbClr val="E2E8F0"/>
                </a:solidFill>
              </a:rPr>
              <a:t>Users exchange unique 32-character User ID codes; friend request accepted; mutual privacy verified.</a:t>
            </a:r>
          </a:p>
        </p:txBody>
      </p:sp>
      <p:sp>
        <p:nvSpPr>
          <p:cNvPr id="9" name="Rounded Rectangle 8"/>
          <p:cNvSpPr/>
          <p:nvPr/>
        </p:nvSpPr>
        <p:spPr>
          <a:xfrm>
            <a:off x="6181344" y="1371600"/>
            <a:ext cx="2578608" cy="224028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00">
                <a:solidFill>
                  <a:srgbClr val="0D9488"/>
                </a:solidFill>
              </a:rPr>
              <a:t>PHASE 03
</a:t>
            </a:r>
            <a:r>
              <a:rPr b="1" sz="1100">
                <a:solidFill>
                  <a:srgbClr val="FFFFFF"/>
                </a:solidFill>
              </a:rPr>
              <a:t>Key Derivation
</a:t>
            </a:r>
          </a:p>
          <a:p>
            <a:r>
              <a:rPr sz="850">
                <a:solidFill>
                  <a:srgbClr val="E2E8F0"/>
                </a:solidFill>
              </a:rPr>
              <a:t>Both users input shared passphrase; browser WebCrypto API derives non-exportable AES-GCM key into IndexedDB.</a:t>
            </a:r>
          </a:p>
        </p:txBody>
      </p:sp>
      <p:sp>
        <p:nvSpPr>
          <p:cNvPr id="10" name="Rounded Rectangle 9"/>
          <p:cNvSpPr/>
          <p:nvPr/>
        </p:nvSpPr>
        <p:spPr>
          <a:xfrm>
            <a:off x="8906256" y="1371600"/>
            <a:ext cx="2578608" cy="224028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00">
                <a:solidFill>
                  <a:srgbClr val="0D9488"/>
                </a:solidFill>
              </a:rPr>
              <a:t>PHASE 04
</a:t>
            </a:r>
            <a:r>
              <a:rPr b="1" sz="1100">
                <a:solidFill>
                  <a:srgbClr val="FFFFFF"/>
                </a:solidFill>
              </a:rPr>
              <a:t>Steganographic Send
</a:t>
            </a:r>
          </a:p>
          <a:p>
            <a:r>
              <a:rPr sz="850">
                <a:solidFill>
                  <a:srgbClr val="E2E8F0"/>
                </a:solidFill>
              </a:rPr>
              <a:t>Sender encrypts secret text; seeds PRNG across PNG pixel channels; stego PNG and recovery copy sent to server.</a:t>
            </a:r>
          </a:p>
        </p:txBody>
      </p:sp>
      <p:sp>
        <p:nvSpPr>
          <p:cNvPr id="11" name="Rounded Rectangle 10"/>
          <p:cNvSpPr/>
          <p:nvPr/>
        </p:nvSpPr>
        <p:spPr>
          <a:xfrm>
            <a:off x="731520" y="3794760"/>
            <a:ext cx="2578608" cy="224028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00">
                <a:solidFill>
                  <a:srgbClr val="3B82F6"/>
                </a:solidFill>
              </a:rPr>
              <a:t>PHASE 05
</a:t>
            </a:r>
            <a:r>
              <a:rPr b="1" sz="1100">
                <a:solidFill>
                  <a:srgbClr val="FFFFFF"/>
                </a:solidFill>
              </a:rPr>
              <a:t>Real-Time Delivery
</a:t>
            </a:r>
          </a:p>
          <a:p>
            <a:r>
              <a:rPr sz="850">
                <a:solidFill>
                  <a:srgbClr val="E2E8F0"/>
                </a:solidFill>
              </a:rPr>
              <a:t>Express backend persists BYTEA to PostgreSQL; broadcasts event over WebSocket (ws://); recipient receives message card.</a:t>
            </a:r>
          </a:p>
        </p:txBody>
      </p:sp>
      <p:sp>
        <p:nvSpPr>
          <p:cNvPr id="12" name="Rounded Rectangle 11"/>
          <p:cNvSpPr/>
          <p:nvPr/>
        </p:nvSpPr>
        <p:spPr>
          <a:xfrm>
            <a:off x="3456432" y="3794760"/>
            <a:ext cx="2578608" cy="224028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00">
                <a:solidFill>
                  <a:srgbClr val="3B82F6"/>
                </a:solidFill>
              </a:rPr>
              <a:t>PHASE 06
</a:t>
            </a:r>
            <a:r>
              <a:rPr b="1" sz="1100">
                <a:solidFill>
                  <a:srgbClr val="FFFFFF"/>
                </a:solidFill>
              </a:rPr>
              <a:t>Biometric Unlock
</a:t>
            </a:r>
          </a:p>
          <a:p>
            <a:r>
              <a:rPr sz="850">
                <a:solidFill>
                  <a:srgbClr val="E2E8F0"/>
                </a:solidFill>
              </a:rPr>
              <a:t>Recipient clicks decrypt; camera captures face; FastAPI AI verifies cosine similarity &gt;= 0.70; secret revealed.</a:t>
            </a:r>
          </a:p>
        </p:txBody>
      </p:sp>
      <p:sp>
        <p:nvSpPr>
          <p:cNvPr id="13" name="Rounded Rectangle 12"/>
          <p:cNvSpPr/>
          <p:nvPr/>
        </p:nvSpPr>
        <p:spPr>
          <a:xfrm>
            <a:off x="6181344" y="3794760"/>
            <a:ext cx="2578608" cy="224028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00">
                <a:solidFill>
                  <a:srgbClr val="3B82F6"/>
                </a:solidFill>
              </a:rPr>
              <a:t>PHASE 07
</a:t>
            </a:r>
            <a:r>
              <a:rPr b="1" sz="1100">
                <a:solidFill>
                  <a:srgbClr val="FFFFFF"/>
                </a:solidFill>
              </a:rPr>
              <a:t>Active Surveillance
</a:t>
            </a:r>
          </a:p>
          <a:p>
            <a:r>
              <a:rPr sz="850">
                <a:solidFill>
                  <a:srgbClr val="E2E8F0"/>
                </a:solidFill>
              </a:rPr>
              <a:t>Continuous 1.5s verification loop runs with 2s timeout; if face count != 1 or face mismatch, text is instantly concealed.</a:t>
            </a:r>
          </a:p>
        </p:txBody>
      </p:sp>
      <p:sp>
        <p:nvSpPr>
          <p:cNvPr id="14" name="Rounded Rectangle 13"/>
          <p:cNvSpPr/>
          <p:nvPr/>
        </p:nvSpPr>
        <p:spPr>
          <a:xfrm>
            <a:off x="8906256" y="3794760"/>
            <a:ext cx="2578608" cy="224028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900">
                <a:solidFill>
                  <a:srgbClr val="3B82F6"/>
                </a:solidFill>
              </a:rPr>
              <a:t>PHASE 08
</a:t>
            </a:r>
            <a:r>
              <a:rPr b="1" sz="1100">
                <a:solidFill>
                  <a:srgbClr val="FFFFFF"/>
                </a:solidFill>
              </a:rPr>
              <a:t>Forensic Self-Healing
</a:t>
            </a:r>
          </a:p>
          <a:p>
            <a:r>
              <a:rPr sz="850">
                <a:solidFill>
                  <a:srgbClr val="E2E8F0"/>
                </a:solidFill>
              </a:rPr>
              <a:t>Message consumed; database atomically restores clean original PNG to attachment and deletes recovery copy.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System Architecture: Decoupled 4-Tier Cloud Architecture</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10728655" cy="109728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10362895" cy="365760"/>
          </a:xfrm>
          <a:prstGeom prst="rect">
            <a:avLst/>
          </a:prstGeom>
          <a:noFill/>
        </p:spPr>
        <p:txBody>
          <a:bodyPr wrap="none">
            <a:spAutoFit/>
          </a:bodyPr>
          <a:lstStyle/>
          <a:p>
            <a:r>
              <a:rPr b="1" sz="1200">
                <a:solidFill>
                  <a:srgbClr val="0D9488"/>
                </a:solidFill>
              </a:rPr>
              <a:t>TIER 1: PRESENTATION LAYER (React 19 + TypeScript + Vite + Tailwind CSS)</a:t>
            </a:r>
          </a:p>
        </p:txBody>
      </p:sp>
      <p:sp>
        <p:nvSpPr>
          <p:cNvPr id="9" name="TextBox 8"/>
          <p:cNvSpPr txBox="1"/>
          <p:nvPr/>
        </p:nvSpPr>
        <p:spPr>
          <a:xfrm>
            <a:off x="914400" y="1645920"/>
            <a:ext cx="10362895" cy="640080"/>
          </a:xfrm>
          <a:prstGeom prst="rect">
            <a:avLst/>
          </a:prstGeom>
          <a:noFill/>
        </p:spPr>
        <p:txBody>
          <a:bodyPr wrap="square">
            <a:spAutoFit/>
          </a:bodyPr>
          <a:lstStyle/>
          <a:p>
            <a:r>
              <a:rPr sz="900">
                <a:solidFill>
                  <a:srgbClr val="E2E8F0"/>
                </a:solidFill>
              </a:rPr>
              <a:t>• WebCrypto API (AES-GCM-256) | Non-exportable IndexedDB Key Persistence | WebRTC MediaStream Camera Acquisition
• Real-Time WebSocket Client (ws://) | Active Viewer 1.5s Continuous Surveillance Loop | AbortSignal 2s Timeout Protection</a:t>
            </a:r>
          </a:p>
        </p:txBody>
      </p:sp>
      <p:sp>
        <p:nvSpPr>
          <p:cNvPr id="10" name="TextBox 9"/>
          <p:cNvSpPr txBox="1"/>
          <p:nvPr/>
        </p:nvSpPr>
        <p:spPr>
          <a:xfrm>
            <a:off x="4572000" y="2377440"/>
            <a:ext cx="3047695" cy="320040"/>
          </a:xfrm>
          <a:prstGeom prst="rect">
            <a:avLst/>
          </a:prstGeom>
          <a:noFill/>
        </p:spPr>
        <p:txBody>
          <a:bodyPr wrap="none">
            <a:spAutoFit/>
          </a:bodyPr>
          <a:lstStyle/>
          <a:p>
            <a:pPr algn="ctr"/>
            <a:r>
              <a:rPr b="1" sz="850">
                <a:solidFill>
                  <a:srgbClr val="0D9488"/>
                </a:solidFill>
              </a:rPr>
              <a:t>▼ RESTful JSON APIs &amp; Bi-Directional WebSockets ▼</a:t>
            </a:r>
          </a:p>
        </p:txBody>
      </p:sp>
      <p:sp>
        <p:nvSpPr>
          <p:cNvPr id="11" name="Rounded Rectangle 10"/>
          <p:cNvSpPr/>
          <p:nvPr/>
        </p:nvSpPr>
        <p:spPr>
          <a:xfrm>
            <a:off x="731520" y="2697480"/>
            <a:ext cx="10728655" cy="109728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34640"/>
            <a:ext cx="10362895" cy="365760"/>
          </a:xfrm>
          <a:prstGeom prst="rect">
            <a:avLst/>
          </a:prstGeom>
          <a:noFill/>
        </p:spPr>
        <p:txBody>
          <a:bodyPr wrap="none">
            <a:spAutoFit/>
          </a:bodyPr>
          <a:lstStyle/>
          <a:p>
            <a:r>
              <a:rPr b="1" sz="1200">
                <a:solidFill>
                  <a:srgbClr val="0D9488"/>
                </a:solidFill>
              </a:rPr>
              <a:t>TIER 2: GATEWAY &amp; APPLICATION SERVER (Node.js + Express 5)</a:t>
            </a:r>
          </a:p>
        </p:txBody>
      </p:sp>
      <p:sp>
        <p:nvSpPr>
          <p:cNvPr id="13" name="TextBox 12"/>
          <p:cNvSpPr txBox="1"/>
          <p:nvPr/>
        </p:nvSpPr>
        <p:spPr>
          <a:xfrm>
            <a:off x="914400" y="3063240"/>
            <a:ext cx="10362895" cy="640080"/>
          </a:xfrm>
          <a:prstGeom prst="rect">
            <a:avLst/>
          </a:prstGeom>
          <a:noFill/>
        </p:spPr>
        <p:txBody>
          <a:bodyPr wrap="square">
            <a:spAutoFit/>
          </a:bodyPr>
          <a:lstStyle/>
          <a:p>
            <a:r>
              <a:rPr sz="900">
                <a:solidFill>
                  <a:srgbClr val="E2E8F0"/>
                </a:solidFill>
              </a:rPr>
              <a:t>• Single-Port Reverse Proxy &amp; Vite SPA Static Server | JWT Auth &amp; bcrypt Password Verification | Multer 25MB File Streaming
• Master AES-256-GCM Biometric Template Encryptor | WebSocket Broadcast State Hub | PostgreSQL Connection Pool with SSL</a:t>
            </a:r>
          </a:p>
        </p:txBody>
      </p:sp>
      <p:sp>
        <p:nvSpPr>
          <p:cNvPr id="14" name="TextBox 13"/>
          <p:cNvSpPr txBox="1"/>
          <p:nvPr/>
        </p:nvSpPr>
        <p:spPr>
          <a:xfrm>
            <a:off x="1828800" y="3794760"/>
            <a:ext cx="2743200" cy="320040"/>
          </a:xfrm>
          <a:prstGeom prst="rect">
            <a:avLst/>
          </a:prstGeom>
          <a:noFill/>
        </p:spPr>
        <p:txBody>
          <a:bodyPr wrap="none">
            <a:spAutoFit/>
          </a:bodyPr>
          <a:lstStyle/>
          <a:p>
            <a:pPr algn="ctr"/>
            <a:r>
              <a:rPr b="1" sz="850">
                <a:solidFill>
                  <a:srgbClr val="64748B"/>
                </a:solidFill>
              </a:rPr>
              <a:t>▼ Internal HTTP (:8001) ▼</a:t>
            </a:r>
          </a:p>
        </p:txBody>
      </p:sp>
      <p:sp>
        <p:nvSpPr>
          <p:cNvPr id="15" name="TextBox 14"/>
          <p:cNvSpPr txBox="1"/>
          <p:nvPr/>
        </p:nvSpPr>
        <p:spPr>
          <a:xfrm>
            <a:off x="7315200" y="3794760"/>
            <a:ext cx="2743200" cy="320040"/>
          </a:xfrm>
          <a:prstGeom prst="rect">
            <a:avLst/>
          </a:prstGeom>
          <a:noFill/>
        </p:spPr>
        <p:txBody>
          <a:bodyPr wrap="none">
            <a:spAutoFit/>
          </a:bodyPr>
          <a:lstStyle/>
          <a:p>
            <a:pPr algn="ctr"/>
            <a:r>
              <a:rPr b="1" sz="850">
                <a:solidFill>
                  <a:srgbClr val="64748B"/>
                </a:solidFill>
              </a:rPr>
              <a:t>▼ Encrypted SSL TCP (:5432) ▼</a:t>
            </a:r>
          </a:p>
        </p:txBody>
      </p:sp>
      <p:sp>
        <p:nvSpPr>
          <p:cNvPr id="16" name="Rounded Rectangle 15"/>
          <p:cNvSpPr/>
          <p:nvPr/>
        </p:nvSpPr>
        <p:spPr>
          <a:xfrm>
            <a:off x="731520" y="4114800"/>
            <a:ext cx="5257800" cy="21031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51960"/>
            <a:ext cx="4892040" cy="365760"/>
          </a:xfrm>
          <a:prstGeom prst="rect">
            <a:avLst/>
          </a:prstGeom>
          <a:noFill/>
        </p:spPr>
        <p:txBody>
          <a:bodyPr wrap="none">
            <a:spAutoFit/>
          </a:bodyPr>
          <a:lstStyle/>
          <a:p>
            <a:r>
              <a:rPr b="1" sz="1200">
                <a:solidFill>
                  <a:srgbClr val="0D9488"/>
                </a:solidFill>
              </a:rPr>
              <a:t>TIER 3: AI &amp; STEGO ENGINE (Python FastAPI)</a:t>
            </a:r>
          </a:p>
        </p:txBody>
      </p:sp>
      <p:sp>
        <p:nvSpPr>
          <p:cNvPr id="18" name="TextBox 17"/>
          <p:cNvSpPr txBox="1"/>
          <p:nvPr/>
        </p:nvSpPr>
        <p:spPr>
          <a:xfrm>
            <a:off x="914400" y="4480560"/>
            <a:ext cx="4892040" cy="1645920"/>
          </a:xfrm>
          <a:prstGeom prst="rect">
            <a:avLst/>
          </a:prstGeom>
          <a:noFill/>
        </p:spPr>
        <p:txBody>
          <a:bodyPr wrap="square">
            <a:spAutoFit/>
          </a:bodyPr>
          <a:lstStyle/>
          <a:p>
            <a:r>
              <a:rPr sz="850">
                <a:solidFill>
                  <a:srgbClr val="E2E8F0"/>
                </a:solidFill>
              </a:rPr>
              <a:t>• InspireFace SDK ('Pikachu' Model)
• OpenCV Face Detection &amp; Alignment
• 512-d Embedding Vector Extraction
• Cosine Similarity Verification (&gt;= 0.70)
• Thread-Safe Session Locking (_session_lock)
• Randomized PRNG LSB Steganography Engine</a:t>
            </a:r>
          </a:p>
        </p:txBody>
      </p:sp>
      <p:sp>
        <p:nvSpPr>
          <p:cNvPr id="19" name="Rounded Rectangle 18"/>
          <p:cNvSpPr/>
          <p:nvPr/>
        </p:nvSpPr>
        <p:spPr>
          <a:xfrm>
            <a:off x="6199632" y="4114800"/>
            <a:ext cx="5257800" cy="21031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4251960"/>
            <a:ext cx="4892040" cy="365760"/>
          </a:xfrm>
          <a:prstGeom prst="rect">
            <a:avLst/>
          </a:prstGeom>
          <a:noFill/>
        </p:spPr>
        <p:txBody>
          <a:bodyPr wrap="none">
            <a:spAutoFit/>
          </a:bodyPr>
          <a:lstStyle/>
          <a:p>
            <a:r>
              <a:rPr b="1" sz="1200">
                <a:solidFill>
                  <a:srgbClr val="0D9488"/>
                </a:solidFill>
              </a:rPr>
              <a:t>TIER 4: PERSISTENCE (PostgreSQL 16 Supabase)</a:t>
            </a:r>
          </a:p>
        </p:txBody>
      </p:sp>
      <p:sp>
        <p:nvSpPr>
          <p:cNvPr id="21" name="TextBox 20"/>
          <p:cNvSpPr txBox="1"/>
          <p:nvPr/>
        </p:nvSpPr>
        <p:spPr>
          <a:xfrm>
            <a:off x="6382512" y="4480560"/>
            <a:ext cx="4892040" cy="1645920"/>
          </a:xfrm>
          <a:prstGeom prst="rect">
            <a:avLst/>
          </a:prstGeom>
          <a:noFill/>
        </p:spPr>
        <p:txBody>
          <a:bodyPr wrap="square">
            <a:spAutoFit/>
          </a:bodyPr>
          <a:lstStyle/>
          <a:p>
            <a:r>
              <a:rPr sz="850">
                <a:solidFill>
                  <a:srgbClr val="E2E8F0"/>
                </a:solidFill>
              </a:rPr>
              <a:t>• users: Profiles &amp; bcrypt password hashes
• face_biometrics: AES-256-GCM ciphertexts + nonces
• friend_requests &amp; friendship_secrets: Salted hashes
• messages &amp; attachments: BYTEA binary blocks (25MB)
• stego_messages: Ephemeral carrier recovery copies
• Automated atomic self-healing triggers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Technologies, Frameworks &amp; Tooling Stack</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2578608" cy="493776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50">
                <a:solidFill>
                  <a:srgbClr val="FFFFFF"/>
                </a:solidFill>
              </a:rPr>
              <a:t>Frontend &amp; Client Security
</a:t>
            </a:r>
          </a:p>
          <a:p>
            <a:pPr>
              <a:spcAft>
                <a:spcPts val="600"/>
              </a:spcAft>
            </a:pPr>
            <a:r>
              <a:rPr b="1" sz="850">
                <a:solidFill>
                  <a:srgbClr val="0D9488"/>
                </a:solidFill>
              </a:rPr>
              <a:t>React 19 &amp; TypeScript
</a:t>
            </a:r>
            <a:r>
              <a:rPr sz="750">
                <a:solidFill>
                  <a:srgbClr val="E2E8F0"/>
                </a:solidFill>
              </a:rPr>
              <a:t>Modular component state architecture &amp; type safety</a:t>
            </a:r>
          </a:p>
          <a:p>
            <a:pPr>
              <a:spcAft>
                <a:spcPts val="600"/>
              </a:spcAft>
            </a:pPr>
            <a:r>
              <a:rPr b="1" sz="850">
                <a:solidFill>
                  <a:srgbClr val="0D9488"/>
                </a:solidFill>
              </a:rPr>
              <a:t>Vite 8
</a:t>
            </a:r>
            <a:r>
              <a:rPr sz="750">
                <a:solidFill>
                  <a:srgbClr val="E2E8F0"/>
                </a:solidFill>
              </a:rPr>
              <a:t>High-speed modern frontend bundler &amp; asset compiler</a:t>
            </a:r>
          </a:p>
          <a:p>
            <a:pPr>
              <a:spcAft>
                <a:spcPts val="600"/>
              </a:spcAft>
            </a:pPr>
            <a:r>
              <a:rPr b="1" sz="850">
                <a:solidFill>
                  <a:srgbClr val="0D9488"/>
                </a:solidFill>
              </a:rPr>
              <a:t>Tailwind CSS
</a:t>
            </a:r>
            <a:r>
              <a:rPr sz="750">
                <a:solidFill>
                  <a:srgbClr val="E2E8F0"/>
                </a:solidFill>
              </a:rPr>
              <a:t>Responsive dark/light themed utility-first design</a:t>
            </a:r>
          </a:p>
          <a:p>
            <a:pPr>
              <a:spcAft>
                <a:spcPts val="600"/>
              </a:spcAft>
            </a:pPr>
            <a:r>
              <a:rPr b="1" sz="850">
                <a:solidFill>
                  <a:srgbClr val="0D9488"/>
                </a:solidFill>
              </a:rPr>
              <a:t>Web Crypto API
</a:t>
            </a:r>
            <a:r>
              <a:rPr sz="750">
                <a:solidFill>
                  <a:srgbClr val="E2E8F0"/>
                </a:solidFill>
              </a:rPr>
              <a:t>Client-side PBKDF2 key derivation &amp; AES-GCM cipher</a:t>
            </a:r>
          </a:p>
          <a:p>
            <a:pPr>
              <a:spcAft>
                <a:spcPts val="600"/>
              </a:spcAft>
            </a:pPr>
            <a:r>
              <a:rPr b="1" sz="850">
                <a:solidFill>
                  <a:srgbClr val="0D9488"/>
                </a:solidFill>
              </a:rPr>
              <a:t>IndexedDB
</a:t>
            </a:r>
            <a:r>
              <a:rPr sz="750">
                <a:solidFill>
                  <a:srgbClr val="E2E8F0"/>
                </a:solidFill>
              </a:rPr>
              <a:t>Secure browser-isolated non-exportable key storage</a:t>
            </a:r>
          </a:p>
          <a:p>
            <a:pPr>
              <a:spcAft>
                <a:spcPts val="600"/>
              </a:spcAft>
            </a:pPr>
            <a:r>
              <a:rPr b="1" sz="850">
                <a:solidFill>
                  <a:srgbClr val="0D9488"/>
                </a:solidFill>
              </a:rPr>
              <a:t>HTML5 WebRTC
</a:t>
            </a:r>
            <a:r>
              <a:rPr sz="750">
                <a:solidFill>
                  <a:srgbClr val="E2E8F0"/>
                </a:solidFill>
              </a:rPr>
              <a:t>Real-time webcam MediaStream acquisition &amp; frame sampling</a:t>
            </a:r>
          </a:p>
        </p:txBody>
      </p:sp>
      <p:sp>
        <p:nvSpPr>
          <p:cNvPr id="8" name="Rounded Rectangle 7"/>
          <p:cNvSpPr/>
          <p:nvPr/>
        </p:nvSpPr>
        <p:spPr>
          <a:xfrm>
            <a:off x="3456432" y="1280160"/>
            <a:ext cx="2578608" cy="493776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50">
                <a:solidFill>
                  <a:srgbClr val="FFFFFF"/>
                </a:solidFill>
              </a:rPr>
              <a:t>Backend &amp; Real-Time Gateway
</a:t>
            </a:r>
          </a:p>
          <a:p>
            <a:pPr>
              <a:spcAft>
                <a:spcPts val="600"/>
              </a:spcAft>
            </a:pPr>
            <a:r>
              <a:rPr b="1" sz="850">
                <a:solidFill>
                  <a:srgbClr val="3B82F6"/>
                </a:solidFill>
              </a:rPr>
              <a:t>Node.js &amp; Express 5
</a:t>
            </a:r>
            <a:r>
              <a:rPr sz="750">
                <a:solidFill>
                  <a:srgbClr val="E2E8F0"/>
                </a:solidFill>
              </a:rPr>
              <a:t>Unified RESTful API server &amp; static SPA host</a:t>
            </a:r>
          </a:p>
          <a:p>
            <a:pPr>
              <a:spcAft>
                <a:spcPts val="600"/>
              </a:spcAft>
            </a:pPr>
            <a:r>
              <a:rPr b="1" sz="850">
                <a:solidFill>
                  <a:srgbClr val="3B82F6"/>
                </a:solidFill>
              </a:rPr>
              <a:t>WebSockets (`ws`)
</a:t>
            </a:r>
            <a:r>
              <a:rPr sz="750">
                <a:solidFill>
                  <a:srgbClr val="E2E8F0"/>
                </a:solidFill>
              </a:rPr>
              <a:t>Bi-directional real-time message &amp; status hub</a:t>
            </a:r>
          </a:p>
          <a:p>
            <a:pPr>
              <a:spcAft>
                <a:spcPts val="600"/>
              </a:spcAft>
            </a:pPr>
            <a:r>
              <a:rPr b="1" sz="850">
                <a:solidFill>
                  <a:srgbClr val="3B82F6"/>
                </a:solidFill>
              </a:rPr>
              <a:t>JSON Web Tokens (JWT)
</a:t>
            </a:r>
            <a:r>
              <a:rPr sz="750">
                <a:solidFill>
                  <a:srgbClr val="E2E8F0"/>
                </a:solidFill>
              </a:rPr>
              <a:t>Stateless secure bearer session authentication</a:t>
            </a:r>
          </a:p>
          <a:p>
            <a:pPr>
              <a:spcAft>
                <a:spcPts val="600"/>
              </a:spcAft>
            </a:pPr>
            <a:r>
              <a:rPr b="1" sz="850">
                <a:solidFill>
                  <a:srgbClr val="3B82F6"/>
                </a:solidFill>
              </a:rPr>
              <a:t>bcrypt
</a:t>
            </a:r>
            <a:r>
              <a:rPr sz="750">
                <a:solidFill>
                  <a:srgbClr val="E2E8F0"/>
                </a:solidFill>
              </a:rPr>
              <a:t>Cryptographic password hashing (10 salt rounds)</a:t>
            </a:r>
          </a:p>
          <a:p>
            <a:pPr>
              <a:spcAft>
                <a:spcPts val="600"/>
              </a:spcAft>
            </a:pPr>
            <a:r>
              <a:rPr b="1" sz="850">
                <a:solidFill>
                  <a:srgbClr val="3B82F6"/>
                </a:solidFill>
              </a:rPr>
              <a:t>Multer
</a:t>
            </a:r>
            <a:r>
              <a:rPr sz="750">
                <a:solidFill>
                  <a:srgbClr val="E2E8F0"/>
                </a:solidFill>
              </a:rPr>
              <a:t>Memory-buffered multipart attachment handling (25MB)</a:t>
            </a:r>
          </a:p>
          <a:p>
            <a:pPr>
              <a:spcAft>
                <a:spcPts val="600"/>
              </a:spcAft>
            </a:pPr>
            <a:r>
              <a:rPr b="1" sz="850">
                <a:solidFill>
                  <a:srgbClr val="3B82F6"/>
                </a:solidFill>
              </a:rPr>
              <a:t>node-postgres (`pg`)
</a:t>
            </a:r>
            <a:r>
              <a:rPr sz="750">
                <a:solidFill>
                  <a:srgbClr val="E2E8F0"/>
                </a:solidFill>
              </a:rPr>
              <a:t>High-performance connection pool with dynamic SSL</a:t>
            </a:r>
          </a:p>
        </p:txBody>
      </p:sp>
      <p:sp>
        <p:nvSpPr>
          <p:cNvPr id="9" name="Rounded Rectangle 8"/>
          <p:cNvSpPr/>
          <p:nvPr/>
        </p:nvSpPr>
        <p:spPr>
          <a:xfrm>
            <a:off x="6181344" y="1280160"/>
            <a:ext cx="2578608" cy="49377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50">
                <a:solidFill>
                  <a:srgbClr val="FFFFFF"/>
                </a:solidFill>
              </a:rPr>
              <a:t>AI Vision &amp; Steganography
</a:t>
            </a:r>
          </a:p>
          <a:p>
            <a:pPr>
              <a:spcAft>
                <a:spcPts val="600"/>
              </a:spcAft>
            </a:pPr>
            <a:r>
              <a:rPr b="1" sz="850">
                <a:solidFill>
                  <a:srgbClr val="10B981"/>
                </a:solidFill>
              </a:rPr>
              <a:t>Python 3.12 &amp; FastAPI
</a:t>
            </a:r>
            <a:r>
              <a:rPr sz="750">
                <a:solidFill>
                  <a:srgbClr val="E2E8F0"/>
                </a:solidFill>
              </a:rPr>
              <a:t>High-throughput asynchronous AI microservice</a:t>
            </a:r>
          </a:p>
          <a:p>
            <a:pPr>
              <a:spcAft>
                <a:spcPts val="600"/>
              </a:spcAft>
            </a:pPr>
            <a:r>
              <a:rPr b="1" sz="850">
                <a:solidFill>
                  <a:srgbClr val="10B981"/>
                </a:solidFill>
              </a:rPr>
              <a:t>InspireFace SDK
</a:t>
            </a:r>
            <a:r>
              <a:rPr sz="750">
                <a:solidFill>
                  <a:srgbClr val="E2E8F0"/>
                </a:solidFill>
              </a:rPr>
              <a:t>Deep face detection &amp; 512-d feature extraction</a:t>
            </a:r>
          </a:p>
          <a:p>
            <a:pPr>
              <a:spcAft>
                <a:spcPts val="600"/>
              </a:spcAft>
            </a:pPr>
            <a:r>
              <a:rPr b="1" sz="850">
                <a:solidFill>
                  <a:srgbClr val="10B981"/>
                </a:solidFill>
              </a:rPr>
              <a:t>OpenCV (`cv2`)
</a:t>
            </a:r>
            <a:r>
              <a:rPr sz="750">
                <a:solidFill>
                  <a:srgbClr val="E2E8F0"/>
                </a:solidFill>
              </a:rPr>
              <a:t>Raw frame matrix decoding, resizing &amp; alignment</a:t>
            </a:r>
          </a:p>
          <a:p>
            <a:pPr>
              <a:spcAft>
                <a:spcPts val="600"/>
              </a:spcAft>
            </a:pPr>
            <a:r>
              <a:rPr b="1" sz="850">
                <a:solidFill>
                  <a:srgbClr val="10B981"/>
                </a:solidFill>
              </a:rPr>
              <a:t>NumPy 2.4
</a:t>
            </a:r>
            <a:r>
              <a:rPr sz="750">
                <a:solidFill>
                  <a:srgbClr val="E2E8F0"/>
                </a:solidFill>
              </a:rPr>
              <a:t>Vectorized array manipulation &amp; PRNG bit scattering</a:t>
            </a:r>
          </a:p>
          <a:p>
            <a:pPr>
              <a:spcAft>
                <a:spcPts val="600"/>
              </a:spcAft>
            </a:pPr>
            <a:r>
              <a:rPr b="1" sz="850">
                <a:solidFill>
                  <a:srgbClr val="10B981"/>
                </a:solidFill>
              </a:rPr>
              <a:t>Pillow (`PIL`)
</a:t>
            </a:r>
            <a:r>
              <a:rPr sz="750">
                <a:solidFill>
                  <a:srgbClr val="E2E8F0"/>
                </a:solidFill>
              </a:rPr>
              <a:t>Lossless RGB PNG encoding/decoding</a:t>
            </a:r>
          </a:p>
          <a:p>
            <a:pPr>
              <a:spcAft>
                <a:spcPts val="600"/>
              </a:spcAft>
            </a:pPr>
            <a:r>
              <a:rPr b="1" sz="850">
                <a:solidFill>
                  <a:srgbClr val="10B981"/>
                </a:solidFill>
              </a:rPr>
              <a:t>Python Secrets
</a:t>
            </a:r>
            <a:r>
              <a:rPr sz="750">
                <a:solidFill>
                  <a:srgbClr val="E2E8F0"/>
                </a:solidFill>
              </a:rPr>
              <a:t>Cryptographically secure 16-byte PRNG token generation</a:t>
            </a:r>
          </a:p>
        </p:txBody>
      </p:sp>
      <p:sp>
        <p:nvSpPr>
          <p:cNvPr id="10" name="Rounded Rectangle 9"/>
          <p:cNvSpPr/>
          <p:nvPr/>
        </p:nvSpPr>
        <p:spPr>
          <a:xfrm>
            <a:off x="8906256" y="1280160"/>
            <a:ext cx="2578608" cy="49377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50">
                <a:solidFill>
                  <a:srgbClr val="FFFFFF"/>
                </a:solidFill>
              </a:rPr>
              <a:t>Database, Cloud &amp; DevOps
</a:t>
            </a:r>
          </a:p>
          <a:p>
            <a:pPr>
              <a:spcAft>
                <a:spcPts val="600"/>
              </a:spcAft>
            </a:pPr>
            <a:r>
              <a:rPr b="1" sz="850">
                <a:solidFill>
                  <a:srgbClr val="F59E0B"/>
                </a:solidFill>
              </a:rPr>
              <a:t>PostgreSQL 16
</a:t>
            </a:r>
            <a:r>
              <a:rPr sz="750">
                <a:solidFill>
                  <a:srgbClr val="E2E8F0"/>
                </a:solidFill>
              </a:rPr>
              <a:t>ACID compliant relational storage with BYTEA support</a:t>
            </a:r>
          </a:p>
          <a:p>
            <a:pPr>
              <a:spcAft>
                <a:spcPts val="600"/>
              </a:spcAft>
            </a:pPr>
            <a:r>
              <a:rPr b="1" sz="850">
                <a:solidFill>
                  <a:srgbClr val="F59E0B"/>
                </a:solidFill>
              </a:rPr>
              <a:t>Supabase Managed DB
</a:t>
            </a:r>
            <a:r>
              <a:rPr sz="750">
                <a:solidFill>
                  <a:srgbClr val="E2E8F0"/>
                </a:solidFill>
              </a:rPr>
              <a:t>Cloud database with SSL transaction pooler</a:t>
            </a:r>
          </a:p>
          <a:p>
            <a:pPr>
              <a:spcAft>
                <a:spcPts val="600"/>
              </a:spcAft>
            </a:pPr>
            <a:r>
              <a:rPr b="1" sz="850">
                <a:solidFill>
                  <a:srgbClr val="F59E0B"/>
                </a:solidFill>
              </a:rPr>
              <a:t>Render PaaS
</a:t>
            </a:r>
            <a:r>
              <a:rPr sz="750">
                <a:solidFill>
                  <a:srgbClr val="E2E8F0"/>
                </a:solidFill>
              </a:rPr>
              <a:t>Unified single-domain container cloud deployment</a:t>
            </a:r>
          </a:p>
          <a:p>
            <a:pPr>
              <a:spcAft>
                <a:spcPts val="600"/>
              </a:spcAft>
            </a:pPr>
            <a:r>
              <a:rPr b="1" sz="850">
                <a:solidFill>
                  <a:srgbClr val="F59E0B"/>
                </a:solidFill>
              </a:rPr>
              <a:t>Git &amp; GitHub
</a:t>
            </a:r>
            <a:r>
              <a:rPr sz="750">
                <a:solidFill>
                  <a:srgbClr val="E2E8F0"/>
                </a:solidFill>
              </a:rPr>
              <a:t>Distributed version control &amp; CI/CD deployment</a:t>
            </a:r>
          </a:p>
          <a:p>
            <a:pPr>
              <a:spcAft>
                <a:spcPts val="600"/>
              </a:spcAft>
            </a:pPr>
            <a:r>
              <a:rPr b="1" sz="850">
                <a:solidFill>
                  <a:srgbClr val="F59E0B"/>
                </a:solidFill>
              </a:rPr>
              <a:t>npm &amp; package.json
</a:t>
            </a:r>
            <a:r>
              <a:rPr sz="750">
                <a:solidFill>
                  <a:srgbClr val="E2E8F0"/>
                </a:solidFill>
              </a:rPr>
              <a:t>Unified root monorepo build pipeline orchestration</a:t>
            </a:r>
          </a:p>
          <a:p>
            <a:pPr>
              <a:spcAft>
                <a:spcPts val="600"/>
              </a:spcAft>
            </a:pPr>
            <a:r>
              <a:rPr b="1" sz="850">
                <a:solidFill>
                  <a:srgbClr val="F59E0B"/>
                </a:solidFill>
              </a:rPr>
              <a:t>PyMuPDF &amp; ReportLab
</a:t>
            </a:r>
            <a:r>
              <a:rPr sz="750">
                <a:solidFill>
                  <a:srgbClr val="E2E8F0"/>
                </a:solidFill>
              </a:rPr>
              <a:t>Automated PDF documentation &amp; test report generation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Phase 2 Implementation: 5 Core Innovations Developed</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10728655" cy="896112"/>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10362895" cy="365760"/>
          </a:xfrm>
          <a:prstGeom prst="rect">
            <a:avLst/>
          </a:prstGeom>
          <a:noFill/>
        </p:spPr>
        <p:txBody>
          <a:bodyPr wrap="none">
            <a:spAutoFit/>
          </a:bodyPr>
          <a:lstStyle/>
          <a:p>
            <a:r>
              <a:rPr b="1" sz="1200">
                <a:solidFill>
                  <a:srgbClr val="0D9488"/>
                </a:solidFill>
              </a:rPr>
              <a:t>Feature 1: Zero-Knowledge Biometric Enrollment</a:t>
            </a:r>
          </a:p>
        </p:txBody>
      </p:sp>
      <p:sp>
        <p:nvSpPr>
          <p:cNvPr id="9" name="TextBox 8"/>
          <p:cNvSpPr txBox="1"/>
          <p:nvPr/>
        </p:nvSpPr>
        <p:spPr>
          <a:xfrm>
            <a:off x="914400" y="1600200"/>
            <a:ext cx="10362895" cy="502920"/>
          </a:xfrm>
          <a:prstGeom prst="rect">
            <a:avLst/>
          </a:prstGeom>
          <a:noFill/>
        </p:spPr>
        <p:txBody>
          <a:bodyPr wrap="square">
            <a:spAutoFit/>
          </a:bodyPr>
          <a:lstStyle/>
          <a:p>
            <a:r>
              <a:rPr sz="850">
                <a:solidFill>
                  <a:srgbClr val="E2E8F0"/>
                </a:solidFill>
              </a:rPr>
              <a:t>Mandatory facial registration captures exactly 1 face using InspireFace. Extracts 512-d normalized floating point embeddings. Node.js backend encrypts vector with AES-256-GCM using FACE_ENCRYPTION_KEY before database insertion. The raw user photo is purged from memory immediately—never stored on disk.</a:t>
            </a:r>
          </a:p>
        </p:txBody>
      </p:sp>
      <p:sp>
        <p:nvSpPr>
          <p:cNvPr id="10" name="Rounded Rectangle 9"/>
          <p:cNvSpPr/>
          <p:nvPr/>
        </p:nvSpPr>
        <p:spPr>
          <a:xfrm>
            <a:off x="731520" y="2267712"/>
            <a:ext cx="10728655" cy="896112"/>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04872"/>
            <a:ext cx="10362895" cy="365760"/>
          </a:xfrm>
          <a:prstGeom prst="rect">
            <a:avLst/>
          </a:prstGeom>
          <a:noFill/>
        </p:spPr>
        <p:txBody>
          <a:bodyPr wrap="none">
            <a:spAutoFit/>
          </a:bodyPr>
          <a:lstStyle/>
          <a:p>
            <a:r>
              <a:rPr b="1" sz="1200">
                <a:solidFill>
                  <a:srgbClr val="0D9488"/>
                </a:solidFill>
              </a:rPr>
              <a:t>Feature 2: Randomized LSB Steganography Engine</a:t>
            </a:r>
          </a:p>
        </p:txBody>
      </p:sp>
      <p:sp>
        <p:nvSpPr>
          <p:cNvPr id="12" name="TextBox 11"/>
          <p:cNvSpPr txBox="1"/>
          <p:nvPr/>
        </p:nvSpPr>
        <p:spPr>
          <a:xfrm>
            <a:off x="914400" y="2587752"/>
            <a:ext cx="10362895" cy="502920"/>
          </a:xfrm>
          <a:prstGeom prst="rect">
            <a:avLst/>
          </a:prstGeom>
          <a:noFill/>
        </p:spPr>
        <p:txBody>
          <a:bodyPr wrap="square">
            <a:spAutoFit/>
          </a:bodyPr>
          <a:lstStyle/>
          <a:p>
            <a:r>
              <a:rPr sz="850">
                <a:solidFill>
                  <a:srgbClr val="E2E8F0"/>
                </a:solidFill>
              </a:rPr>
              <a:t>Disguises encrypted secret text into lossless PNG carriers. Writes a 24-byte header (CVS1 magic tag, 16-byte random PRNG seed, 4-byte payload size) into initial pixels, then scatters encrypted bits randomly across RGB channels via NumPy default_rng. Resulting image exhibits zero perceptible visual degradation.</a:t>
            </a:r>
          </a:p>
        </p:txBody>
      </p:sp>
      <p:sp>
        <p:nvSpPr>
          <p:cNvPr id="13" name="Rounded Rectangle 12"/>
          <p:cNvSpPr/>
          <p:nvPr/>
        </p:nvSpPr>
        <p:spPr>
          <a:xfrm>
            <a:off x="731520" y="3255264"/>
            <a:ext cx="10728655" cy="896112"/>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392424"/>
            <a:ext cx="10362895" cy="365760"/>
          </a:xfrm>
          <a:prstGeom prst="rect">
            <a:avLst/>
          </a:prstGeom>
          <a:noFill/>
        </p:spPr>
        <p:txBody>
          <a:bodyPr wrap="none">
            <a:spAutoFit/>
          </a:bodyPr>
          <a:lstStyle/>
          <a:p>
            <a:r>
              <a:rPr b="1" sz="1200">
                <a:solidFill>
                  <a:srgbClr val="0D9488"/>
                </a:solidFill>
              </a:rPr>
              <a:t>Feature 3: Active Face Guardian Surveillance Loop</a:t>
            </a:r>
          </a:p>
        </p:txBody>
      </p:sp>
      <p:sp>
        <p:nvSpPr>
          <p:cNvPr id="15" name="TextBox 14"/>
          <p:cNvSpPr txBox="1"/>
          <p:nvPr/>
        </p:nvSpPr>
        <p:spPr>
          <a:xfrm>
            <a:off x="914400" y="3575304"/>
            <a:ext cx="10362895" cy="502920"/>
          </a:xfrm>
          <a:prstGeom prst="rect">
            <a:avLst/>
          </a:prstGeom>
          <a:noFill/>
        </p:spPr>
        <p:txBody>
          <a:bodyPr wrap="square">
            <a:spAutoFit/>
          </a:bodyPr>
          <a:lstStyle/>
          <a:p>
            <a:r>
              <a:rPr sz="850">
                <a:solidFill>
                  <a:srgbClr val="E2E8F0"/>
                </a:solidFill>
              </a:rPr>
              <a:t>Decryption activates recipient webcam. The AI verifies identity against enrolled template (cosine &gt;= 0.70) and guarantees exactly 1 face. A continuous surveillance loop checks the viewer every 1.5s with a 2s AbortSignal timeout. If the user turns away or a second face appears, text is auto-concealed.</a:t>
            </a:r>
          </a:p>
        </p:txBody>
      </p:sp>
      <p:sp>
        <p:nvSpPr>
          <p:cNvPr id="16" name="Rounded Rectangle 15"/>
          <p:cNvSpPr/>
          <p:nvPr/>
        </p:nvSpPr>
        <p:spPr>
          <a:xfrm>
            <a:off x="731520" y="4242816"/>
            <a:ext cx="10728655" cy="896112"/>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79976"/>
            <a:ext cx="10362895" cy="365760"/>
          </a:xfrm>
          <a:prstGeom prst="rect">
            <a:avLst/>
          </a:prstGeom>
          <a:noFill/>
        </p:spPr>
        <p:txBody>
          <a:bodyPr wrap="none">
            <a:spAutoFit/>
          </a:bodyPr>
          <a:lstStyle/>
          <a:p>
            <a:r>
              <a:rPr b="1" sz="1200">
                <a:solidFill>
                  <a:srgbClr val="0D9488"/>
                </a:solidFill>
              </a:rPr>
              <a:t>Feature 4: Single-Port Cloud Bundling on Render</a:t>
            </a:r>
          </a:p>
        </p:txBody>
      </p:sp>
      <p:sp>
        <p:nvSpPr>
          <p:cNvPr id="18" name="TextBox 17"/>
          <p:cNvSpPr txBox="1"/>
          <p:nvPr/>
        </p:nvSpPr>
        <p:spPr>
          <a:xfrm>
            <a:off x="914400" y="4562856"/>
            <a:ext cx="10362895" cy="502920"/>
          </a:xfrm>
          <a:prstGeom prst="rect">
            <a:avLst/>
          </a:prstGeom>
          <a:noFill/>
        </p:spPr>
        <p:txBody>
          <a:bodyPr wrap="square">
            <a:spAutoFit/>
          </a:bodyPr>
          <a:lstStyle/>
          <a:p>
            <a:r>
              <a:rPr sz="850">
                <a:solidFill>
                  <a:srgbClr val="E2E8F0"/>
                </a:solidFill>
              </a:rPr>
              <a:t>Cloud PaaS provides only one public port ($PORT). Team Veltrox engineered a root build script compiling Vite SPA and Express server into a unified artifact. Express 5 acts as reverse proxy, serving React statically from dist/ and handling catch-all SPA routing seamlessly.</a:t>
            </a:r>
          </a:p>
        </p:txBody>
      </p:sp>
      <p:sp>
        <p:nvSpPr>
          <p:cNvPr id="19" name="Rounded Rectangle 18"/>
          <p:cNvSpPr/>
          <p:nvPr/>
        </p:nvSpPr>
        <p:spPr>
          <a:xfrm>
            <a:off x="731520" y="5230368"/>
            <a:ext cx="10728655" cy="896112"/>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367528"/>
            <a:ext cx="10362895" cy="365760"/>
          </a:xfrm>
          <a:prstGeom prst="rect">
            <a:avLst/>
          </a:prstGeom>
          <a:noFill/>
        </p:spPr>
        <p:txBody>
          <a:bodyPr wrap="none">
            <a:spAutoFit/>
          </a:bodyPr>
          <a:lstStyle/>
          <a:p>
            <a:r>
              <a:rPr b="1" sz="1200">
                <a:solidFill>
                  <a:srgbClr val="0D9488"/>
                </a:solidFill>
              </a:rPr>
              <a:t>Feature 5: Forensic Database Self-Healing</a:t>
            </a:r>
          </a:p>
        </p:txBody>
      </p:sp>
      <p:sp>
        <p:nvSpPr>
          <p:cNvPr id="21" name="TextBox 20"/>
          <p:cNvSpPr txBox="1"/>
          <p:nvPr/>
        </p:nvSpPr>
        <p:spPr>
          <a:xfrm>
            <a:off x="914400" y="5550408"/>
            <a:ext cx="10362895" cy="502920"/>
          </a:xfrm>
          <a:prstGeom prst="rect">
            <a:avLst/>
          </a:prstGeom>
          <a:noFill/>
        </p:spPr>
        <p:txBody>
          <a:bodyPr wrap="square">
            <a:spAutoFit/>
          </a:bodyPr>
          <a:lstStyle/>
          <a:p>
            <a:r>
              <a:rPr sz="850">
                <a:solidFill>
                  <a:srgbClr val="E2E8F0"/>
                </a:solidFill>
              </a:rPr>
              <a:t>Traditional apps leave persistent traces of decrypted media. Chatvia implements atomic self-healing: upon single-view decryption, PostgreSQL updates attachments with the original clean PNG and nullifies original_png, removing any forensic trace of steganography.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Phase 3 Testing: 20 Test Cases Executed (100% Pass Rate)</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1664208" cy="8229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3B82F6"/>
                </a:solidFill>
              </a:rPr>
              <a:t>20
</a:t>
            </a:r>
          </a:p>
          <a:p>
            <a:pPr algn="ctr"/>
            <a:r>
              <a:rPr sz="750">
                <a:solidFill>
                  <a:srgbClr val="94A3B8"/>
                </a:solidFill>
              </a:rPr>
              <a:t>Total Test Cases</a:t>
            </a:r>
          </a:p>
        </p:txBody>
      </p:sp>
      <p:sp>
        <p:nvSpPr>
          <p:cNvPr id="8" name="Rounded Rectangle 7"/>
          <p:cNvSpPr/>
          <p:nvPr/>
        </p:nvSpPr>
        <p:spPr>
          <a:xfrm>
            <a:off x="2542032" y="1280160"/>
            <a:ext cx="1664208" cy="8229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10B981"/>
                </a:solidFill>
              </a:rPr>
              <a:t>100%
</a:t>
            </a:r>
          </a:p>
          <a:p>
            <a:pPr algn="ctr"/>
            <a:r>
              <a:rPr sz="750">
                <a:solidFill>
                  <a:srgbClr val="94A3B8"/>
                </a:solidFill>
              </a:rPr>
              <a:t>Test Execution Pass</a:t>
            </a:r>
          </a:p>
        </p:txBody>
      </p:sp>
      <p:sp>
        <p:nvSpPr>
          <p:cNvPr id="9" name="Rounded Rectangle 8"/>
          <p:cNvSpPr/>
          <p:nvPr/>
        </p:nvSpPr>
        <p:spPr>
          <a:xfrm>
            <a:off x="4352544" y="1280160"/>
            <a:ext cx="1664208" cy="82296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0D9488"/>
                </a:solidFill>
              </a:rPr>
              <a:t>&lt; 70 ms
</a:t>
            </a:r>
          </a:p>
          <a:p>
            <a:pPr algn="ctr"/>
            <a:r>
              <a:rPr sz="750">
                <a:solidFill>
                  <a:srgbClr val="94A3B8"/>
                </a:solidFill>
              </a:rPr>
              <a:t>Biometric Latency</a:t>
            </a:r>
          </a:p>
        </p:txBody>
      </p:sp>
      <p:sp>
        <p:nvSpPr>
          <p:cNvPr id="10" name="Rounded Rectangle 9"/>
          <p:cNvSpPr/>
          <p:nvPr/>
        </p:nvSpPr>
        <p:spPr>
          <a:xfrm>
            <a:off x="6163056" y="1280160"/>
            <a:ext cx="1664208" cy="82296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0D9488"/>
                </a:solidFill>
              </a:rPr>
              <a:t>&lt; 80 ms
</a:t>
            </a:r>
          </a:p>
          <a:p>
            <a:pPr algn="ctr"/>
            <a:r>
              <a:rPr sz="750">
                <a:solidFill>
                  <a:srgbClr val="94A3B8"/>
                </a:solidFill>
              </a:rPr>
              <a:t>Message Delivery</a:t>
            </a:r>
          </a:p>
        </p:txBody>
      </p:sp>
      <p:sp>
        <p:nvSpPr>
          <p:cNvPr id="11" name="Rounded Rectangle 10"/>
          <p:cNvSpPr/>
          <p:nvPr/>
        </p:nvSpPr>
        <p:spPr>
          <a:xfrm>
            <a:off x="7973568" y="1280160"/>
            <a:ext cx="1664208" cy="8229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F59E0B"/>
                </a:solidFill>
              </a:rPr>
              <a:t>25 MB
</a:t>
            </a:r>
          </a:p>
          <a:p>
            <a:pPr algn="ctr"/>
            <a:r>
              <a:rPr sz="750">
                <a:solidFill>
                  <a:srgbClr val="94A3B8"/>
                </a:solidFill>
              </a:rPr>
              <a:t>Max File Upload</a:t>
            </a:r>
          </a:p>
        </p:txBody>
      </p:sp>
      <p:sp>
        <p:nvSpPr>
          <p:cNvPr id="12" name="Rounded Rectangle 11"/>
          <p:cNvSpPr/>
          <p:nvPr/>
        </p:nvSpPr>
        <p:spPr>
          <a:xfrm>
            <a:off x="9784080" y="1280160"/>
            <a:ext cx="1664208" cy="8229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F59E0B"/>
                </a:solidFill>
              </a:rPr>
              <a:t>2,000 ms
</a:t>
            </a:r>
          </a:p>
          <a:p>
            <a:pPr algn="ctr"/>
            <a:r>
              <a:rPr sz="750">
                <a:solidFill>
                  <a:srgbClr val="94A3B8"/>
                </a:solidFill>
              </a:rPr>
              <a:t>Timeout Abort Limit</a:t>
            </a:r>
          </a:p>
        </p:txBody>
      </p:sp>
      <p:graphicFrame>
        <p:nvGraphicFramePr>
          <p:cNvPr id="13" name="Table 12"/>
          <p:cNvGraphicFramePr>
            <a:graphicFrameLocks noGrp="1"/>
          </p:cNvGraphicFramePr>
          <p:nvPr/>
        </p:nvGraphicFramePr>
        <p:xfrm>
          <a:off x="731520" y="2240280"/>
          <a:ext cx="10728655" cy="4114800"/>
        </p:xfrm>
        <a:graphic>
          <a:graphicData uri="http://schemas.openxmlformats.org/drawingml/2006/table">
            <a:tbl>
              <a:tblPr firstRow="1" bandRow="1">
                <a:tableStyleId>{5C22544A-7EE6-4342-B048-85BDC9FD1C3A}</a:tableStyleId>
              </a:tblPr>
              <a:tblGrid>
                <a:gridCol w="1097280"/>
                <a:gridCol w="1645920"/>
                <a:gridCol w="2926080"/>
                <a:gridCol w="3962095"/>
                <a:gridCol w="1097280"/>
              </a:tblGrid>
              <a:tr h="587828">
                <a:tc>
                  <a:txBody>
                    <a:bodyPr/>
                    <a:lstStyle/>
                    <a:p>
                      <a:pPr algn="ctr"/>
                      <a:r>
                        <a:rPr b="1" sz="900">
                          <a:solidFill>
                            <a:srgbClr val="FFFFFF"/>
                          </a:solidFill>
                        </a:rPr>
                        <a:t>Test ID</a:t>
                      </a:r>
                    </a:p>
                  </a:txBody>
                  <a:tcPr>
                    <a:solidFill>
                      <a:srgbClr val="0D9488"/>
                    </a:solidFill>
                  </a:tcPr>
                </a:tc>
                <a:tc>
                  <a:txBody>
                    <a:bodyPr/>
                    <a:lstStyle/>
                    <a:p>
                      <a:pPr algn="ctr"/>
                      <a:r>
                        <a:rPr b="1" sz="900">
                          <a:solidFill>
                            <a:srgbClr val="FFFFFF"/>
                          </a:solidFill>
                        </a:rPr>
                        <a:t>Module</a:t>
                      </a:r>
                    </a:p>
                  </a:txBody>
                  <a:tcPr>
                    <a:solidFill>
                      <a:srgbClr val="0D9488"/>
                    </a:solidFill>
                  </a:tcPr>
                </a:tc>
                <a:tc>
                  <a:txBody>
                    <a:bodyPr/>
                    <a:lstStyle/>
                    <a:p>
                      <a:pPr algn="ctr"/>
                      <a:r>
                        <a:rPr b="1" sz="900">
                          <a:solidFill>
                            <a:srgbClr val="FFFFFF"/>
                          </a:solidFill>
                        </a:rPr>
                        <a:t>Condition / Input Tested</a:t>
                      </a:r>
                    </a:p>
                  </a:txBody>
                  <a:tcPr>
                    <a:solidFill>
                      <a:srgbClr val="0D9488"/>
                    </a:solidFill>
                  </a:tcPr>
                </a:tc>
                <a:tc>
                  <a:txBody>
                    <a:bodyPr/>
                    <a:lstStyle/>
                    <a:p>
                      <a:pPr algn="ctr"/>
                      <a:r>
                        <a:rPr b="1" sz="900">
                          <a:solidFill>
                            <a:srgbClr val="FFFFFF"/>
                          </a:solidFill>
                        </a:rPr>
                        <a:t>Expected &amp; Verified Outcome</a:t>
                      </a:r>
                    </a:p>
                  </a:txBody>
                  <a:tcPr>
                    <a:solidFill>
                      <a:srgbClr val="0D9488"/>
                    </a:solidFill>
                  </a:tcPr>
                </a:tc>
                <a:tc>
                  <a:txBody>
                    <a:bodyPr/>
                    <a:lstStyle/>
                    <a:p>
                      <a:pPr algn="ctr"/>
                      <a:r>
                        <a:rPr b="1" sz="900">
                          <a:solidFill>
                            <a:srgbClr val="FFFFFF"/>
                          </a:solidFill>
                        </a:rPr>
                        <a:t>Status</a:t>
                      </a:r>
                    </a:p>
                  </a:txBody>
                  <a:tcPr>
                    <a:solidFill>
                      <a:srgbClr val="0D9488"/>
                    </a:solidFill>
                  </a:tcPr>
                </a:tc>
              </a:tr>
              <a:tr h="587828">
                <a:tc>
                  <a:txBody>
                    <a:bodyPr/>
                    <a:lstStyle/>
                    <a:p>
                      <a:pPr algn="ctr"/>
                      <a:r>
                        <a:rPr sz="800" b="1">
                          <a:solidFill>
                            <a:srgbClr val="FFFFFF"/>
                          </a:solidFill>
                        </a:rPr>
                        <a:t>TC-REG-02</a:t>
                      </a:r>
                    </a:p>
                  </a:txBody>
                  <a:tcPr>
                    <a:solidFill>
                      <a:srgbClr val="1E293B"/>
                    </a:solidFill>
                  </a:tcPr>
                </a:tc>
                <a:tc>
                  <a:txBody>
                    <a:bodyPr/>
                    <a:lstStyle/>
                    <a:p>
                      <a:r>
                        <a:rPr sz="800">
                          <a:solidFill>
                            <a:srgbClr val="E2E8F0"/>
                          </a:solidFill>
                        </a:rPr>
                        <a:t>Biometric Enrollment</a:t>
                      </a:r>
                    </a:p>
                  </a:txBody>
                  <a:tcPr>
                    <a:solidFill>
                      <a:srgbClr val="1E293B"/>
                    </a:solidFill>
                  </a:tcPr>
                </a:tc>
                <a:tc>
                  <a:txBody>
                    <a:bodyPr/>
                    <a:lstStyle/>
                    <a:p>
                      <a:r>
                        <a:rPr sz="800">
                          <a:solidFill>
                            <a:srgbClr val="E2E8F0"/>
                          </a:solidFill>
                        </a:rPr>
                        <a:t>User attempts registration with 2 faces visible</a:t>
                      </a:r>
                    </a:p>
                  </a:txBody>
                  <a:tcPr>
                    <a:solidFill>
                      <a:srgbClr val="1E293B"/>
                    </a:solidFill>
                  </a:tcPr>
                </a:tc>
                <a:tc>
                  <a:txBody>
                    <a:bodyPr/>
                    <a:lstStyle/>
                    <a:p>
                      <a:r>
                        <a:rPr sz="800">
                          <a:solidFill>
                            <a:srgbClr val="E2E8F0"/>
                          </a:solidFill>
                        </a:rPr>
                        <a:t>HTTP 422 rejected; error 'Capture exactly one face, clearly visible'; blocked</a:t>
                      </a:r>
                    </a:p>
                  </a:txBody>
                  <a:tcPr>
                    <a:solidFill>
                      <a:srgbClr val="1E293B"/>
                    </a:solidFill>
                  </a:tcPr>
                </a:tc>
                <a:tc>
                  <a:txBody>
                    <a:bodyPr/>
                    <a:lstStyle/>
                    <a:p>
                      <a:pPr algn="ctr"/>
                      <a:r>
                        <a:rPr sz="800" b="1">
                          <a:solidFill>
                            <a:srgbClr val="10B981"/>
                          </a:solidFill>
                        </a:rPr>
                        <a:t>PASS (100%)</a:t>
                      </a:r>
                    </a:p>
                  </a:txBody>
                  <a:tcPr>
                    <a:solidFill>
                      <a:srgbClr val="1E293B"/>
                    </a:solidFill>
                  </a:tcPr>
                </a:tc>
              </a:tr>
              <a:tr h="587828">
                <a:tc>
                  <a:txBody>
                    <a:bodyPr/>
                    <a:lstStyle/>
                    <a:p>
                      <a:pPr algn="ctr"/>
                      <a:r>
                        <a:rPr sz="800" b="1">
                          <a:solidFill>
                            <a:srgbClr val="FFFFFF"/>
                          </a:solidFill>
                        </a:rPr>
                        <a:t>TC-KEY-01</a:t>
                      </a:r>
                    </a:p>
                  </a:txBody>
                  <a:tcPr>
                    <a:solidFill>
                      <a:srgbClr val="18212F"/>
                    </a:solidFill>
                  </a:tcPr>
                </a:tc>
                <a:tc>
                  <a:txBody>
                    <a:bodyPr/>
                    <a:lstStyle/>
                    <a:p>
                      <a:r>
                        <a:rPr sz="800">
                          <a:solidFill>
                            <a:srgbClr val="E2E8F0"/>
                          </a:solidFill>
                        </a:rPr>
                        <a:t>Friendship Key Derivation</a:t>
                      </a:r>
                    </a:p>
                  </a:txBody>
                  <a:tcPr>
                    <a:solidFill>
                      <a:srgbClr val="18212F"/>
                    </a:solidFill>
                  </a:tcPr>
                </a:tc>
                <a:tc>
                  <a:txBody>
                    <a:bodyPr/>
                    <a:lstStyle/>
                    <a:p>
                      <a:r>
                        <a:rPr sz="800">
                          <a:solidFill>
                            <a:srgbClr val="E2E8F0"/>
                          </a:solidFill>
                        </a:rPr>
                        <a:t>Both friends input identical shared passphrase</a:t>
                      </a:r>
                    </a:p>
                  </a:txBody>
                  <a:tcPr>
                    <a:solidFill>
                      <a:srgbClr val="18212F"/>
                    </a:solidFill>
                  </a:tcPr>
                </a:tc>
                <a:tc>
                  <a:txBody>
                    <a:bodyPr/>
                    <a:lstStyle/>
                    <a:p>
                      <a:r>
                        <a:rPr sz="800">
                          <a:solidFill>
                            <a:srgbClr val="E2E8F0"/>
                          </a:solidFill>
                        </a:rPr>
                        <a:t>PBKDF2 salted hash verified; non-exportable AES-GCM key cached in IndexedDB</a:t>
                      </a:r>
                    </a:p>
                  </a:txBody>
                  <a:tcPr>
                    <a:solidFill>
                      <a:srgbClr val="18212F"/>
                    </a:solidFill>
                  </a:tcPr>
                </a:tc>
                <a:tc>
                  <a:txBody>
                    <a:bodyPr/>
                    <a:lstStyle/>
                    <a:p>
                      <a:pPr algn="ctr"/>
                      <a:r>
                        <a:rPr sz="800" b="1">
                          <a:solidFill>
                            <a:srgbClr val="10B981"/>
                          </a:solidFill>
                        </a:rPr>
                        <a:t>PASS (100%)</a:t>
                      </a:r>
                    </a:p>
                  </a:txBody>
                  <a:tcPr>
                    <a:solidFill>
                      <a:srgbClr val="18212F"/>
                    </a:solidFill>
                  </a:tcPr>
                </a:tc>
              </a:tr>
              <a:tr h="587828">
                <a:tc>
                  <a:txBody>
                    <a:bodyPr/>
                    <a:lstStyle/>
                    <a:p>
                      <a:pPr algn="ctr"/>
                      <a:r>
                        <a:rPr sz="800" b="1">
                          <a:solidFill>
                            <a:srgbClr val="FFFFFF"/>
                          </a:solidFill>
                        </a:rPr>
                        <a:t>TC-STEG-01</a:t>
                      </a:r>
                    </a:p>
                  </a:txBody>
                  <a:tcPr>
                    <a:solidFill>
                      <a:srgbClr val="1E293B"/>
                    </a:solidFill>
                  </a:tcPr>
                </a:tc>
                <a:tc>
                  <a:txBody>
                    <a:bodyPr/>
                    <a:lstStyle/>
                    <a:p>
                      <a:r>
                        <a:rPr sz="800">
                          <a:solidFill>
                            <a:srgbClr val="E2E8F0"/>
                          </a:solidFill>
                        </a:rPr>
                        <a:t>Randomized LSB Stego</a:t>
                      </a:r>
                    </a:p>
                  </a:txBody>
                  <a:tcPr>
                    <a:solidFill>
                      <a:srgbClr val="1E293B"/>
                    </a:solidFill>
                  </a:tcPr>
                </a:tc>
                <a:tc>
                  <a:txBody>
                    <a:bodyPr/>
                    <a:lstStyle/>
                    <a:p>
                      <a:r>
                        <a:rPr sz="800">
                          <a:solidFill>
                            <a:srgbClr val="E2E8F0"/>
                          </a:solidFill>
                        </a:rPr>
                        <a:t>500-char private text embedded into 1.2MB PNG</a:t>
                      </a:r>
                    </a:p>
                  </a:txBody>
                  <a:tcPr>
                    <a:solidFill>
                      <a:srgbClr val="1E293B"/>
                    </a:solidFill>
                  </a:tcPr>
                </a:tc>
                <a:tc>
                  <a:txBody>
                    <a:bodyPr/>
                    <a:lstStyle/>
                    <a:p>
                      <a:r>
                        <a:rPr sz="800">
                          <a:solidFill>
                            <a:srgbClr val="E2E8F0"/>
                          </a:solidFill>
                        </a:rPr>
                        <a:t>Header CVS1 written; payload scattered via PRNG; zero visual distortion</a:t>
                      </a:r>
                    </a:p>
                  </a:txBody>
                  <a:tcPr>
                    <a:solidFill>
                      <a:srgbClr val="1E293B"/>
                    </a:solidFill>
                  </a:tcPr>
                </a:tc>
                <a:tc>
                  <a:txBody>
                    <a:bodyPr/>
                    <a:lstStyle/>
                    <a:p>
                      <a:pPr algn="ctr"/>
                      <a:r>
                        <a:rPr sz="800" b="1">
                          <a:solidFill>
                            <a:srgbClr val="10B981"/>
                          </a:solidFill>
                        </a:rPr>
                        <a:t>PASS (100%)</a:t>
                      </a:r>
                    </a:p>
                  </a:txBody>
                  <a:tcPr>
                    <a:solidFill>
                      <a:srgbClr val="1E293B"/>
                    </a:solidFill>
                  </a:tcPr>
                </a:tc>
              </a:tr>
              <a:tr h="587828">
                <a:tc>
                  <a:txBody>
                    <a:bodyPr/>
                    <a:lstStyle/>
                    <a:p>
                      <a:pPr algn="ctr"/>
                      <a:r>
                        <a:rPr sz="800" b="1">
                          <a:solidFill>
                            <a:srgbClr val="FFFFFF"/>
                          </a:solidFill>
                        </a:rPr>
                        <a:t>TC-BIO-03</a:t>
                      </a:r>
                    </a:p>
                  </a:txBody>
                  <a:tcPr>
                    <a:solidFill>
                      <a:srgbClr val="18212F"/>
                    </a:solidFill>
                  </a:tcPr>
                </a:tc>
                <a:tc>
                  <a:txBody>
                    <a:bodyPr/>
                    <a:lstStyle/>
                    <a:p>
                      <a:r>
                        <a:rPr sz="800">
                          <a:solidFill>
                            <a:srgbClr val="E2E8F0"/>
                          </a:solidFill>
                        </a:rPr>
                        <a:t>Shoulder Surfer Detection</a:t>
                      </a:r>
                    </a:p>
                  </a:txBody>
                  <a:tcPr>
                    <a:solidFill>
                      <a:srgbClr val="18212F"/>
                    </a:solidFill>
                  </a:tcPr>
                </a:tc>
                <a:tc>
                  <a:txBody>
                    <a:bodyPr/>
                    <a:lstStyle/>
                    <a:p>
                      <a:r>
                        <a:rPr sz="800">
                          <a:solidFill>
                            <a:srgbClr val="E2E8F0"/>
                          </a:solidFill>
                        </a:rPr>
                        <a:t>Second person appears in webcam while text is open</a:t>
                      </a:r>
                    </a:p>
                  </a:txBody>
                  <a:tcPr>
                    <a:solidFill>
                      <a:srgbClr val="18212F"/>
                    </a:solidFill>
                  </a:tcPr>
                </a:tc>
                <a:tc>
                  <a:txBody>
                    <a:bodyPr/>
                    <a:lstStyle/>
                    <a:p>
                      <a:r>
                        <a:rPr sz="800">
                          <a:solidFill>
                            <a:srgbClr val="E2E8F0"/>
                          </a:solidFill>
                        </a:rPr>
                        <a:t>Surveillance detects face_count == 2; text auto-concealed immediately</a:t>
                      </a:r>
                    </a:p>
                  </a:txBody>
                  <a:tcPr>
                    <a:solidFill>
                      <a:srgbClr val="18212F"/>
                    </a:solidFill>
                  </a:tcPr>
                </a:tc>
                <a:tc>
                  <a:txBody>
                    <a:bodyPr/>
                    <a:lstStyle/>
                    <a:p>
                      <a:pPr algn="ctr"/>
                      <a:r>
                        <a:rPr sz="800" b="1">
                          <a:solidFill>
                            <a:srgbClr val="10B981"/>
                          </a:solidFill>
                        </a:rPr>
                        <a:t>PASS (100%)</a:t>
                      </a:r>
                    </a:p>
                  </a:txBody>
                  <a:tcPr>
                    <a:solidFill>
                      <a:srgbClr val="18212F"/>
                    </a:solidFill>
                  </a:tcPr>
                </a:tc>
              </a:tr>
              <a:tr h="587828">
                <a:tc>
                  <a:txBody>
                    <a:bodyPr/>
                    <a:lstStyle/>
                    <a:p>
                      <a:pPr algn="ctr"/>
                      <a:r>
                        <a:rPr sz="800" b="1">
                          <a:solidFill>
                            <a:srgbClr val="FFFFFF"/>
                          </a:solidFill>
                        </a:rPr>
                        <a:t>TC-BIO-05</a:t>
                      </a:r>
                    </a:p>
                  </a:txBody>
                  <a:tcPr>
                    <a:solidFill>
                      <a:srgbClr val="1E293B"/>
                    </a:solidFill>
                  </a:tcPr>
                </a:tc>
                <a:tc>
                  <a:txBody>
                    <a:bodyPr/>
                    <a:lstStyle/>
                    <a:p>
                      <a:r>
                        <a:rPr sz="800">
                          <a:solidFill>
                            <a:srgbClr val="E2E8F0"/>
                          </a:solidFill>
                        </a:rPr>
                        <a:t>Timeout Protection</a:t>
                      </a:r>
                    </a:p>
                  </a:txBody>
                  <a:tcPr>
                    <a:solidFill>
                      <a:srgbClr val="1E293B"/>
                    </a:solidFill>
                  </a:tcPr>
                </a:tc>
                <a:tc>
                  <a:txBody>
                    <a:bodyPr/>
                    <a:lstStyle/>
                    <a:p>
                      <a:r>
                        <a:rPr sz="800">
                          <a:solidFill>
                            <a:srgbClr val="E2E8F0"/>
                          </a:solidFill>
                        </a:rPr>
                        <a:t>Simulated network latency &gt; 2,000ms during check</a:t>
                      </a:r>
                    </a:p>
                  </a:txBody>
                  <a:tcPr>
                    <a:solidFill>
                      <a:srgbClr val="1E293B"/>
                    </a:solidFill>
                  </a:tcPr>
                </a:tc>
                <a:tc>
                  <a:txBody>
                    <a:bodyPr/>
                    <a:lstStyle/>
                    <a:p>
                      <a:r>
                        <a:rPr sz="800">
                          <a:solidFill>
                            <a:srgbClr val="E2E8F0"/>
                          </a:solidFill>
                        </a:rPr>
                        <a:t>AbortSignal.timeout(2000) cancels request; text concealed safely</a:t>
                      </a:r>
                    </a:p>
                  </a:txBody>
                  <a:tcPr>
                    <a:solidFill>
                      <a:srgbClr val="1E293B"/>
                    </a:solidFill>
                  </a:tcPr>
                </a:tc>
                <a:tc>
                  <a:txBody>
                    <a:bodyPr/>
                    <a:lstStyle/>
                    <a:p>
                      <a:pPr algn="ctr"/>
                      <a:r>
                        <a:rPr sz="800" b="1">
                          <a:solidFill>
                            <a:srgbClr val="10B981"/>
                          </a:solidFill>
                        </a:rPr>
                        <a:t>PASS (100%)</a:t>
                      </a:r>
                    </a:p>
                  </a:txBody>
                  <a:tcPr>
                    <a:solidFill>
                      <a:srgbClr val="1E293B"/>
                    </a:solidFill>
                  </a:tcPr>
                </a:tc>
              </a:tr>
              <a:tr h="587832">
                <a:tc>
                  <a:txBody>
                    <a:bodyPr/>
                    <a:lstStyle/>
                    <a:p>
                      <a:pPr algn="ctr"/>
                      <a:r>
                        <a:rPr sz="800" b="1">
                          <a:solidFill>
                            <a:srgbClr val="FFFFFF"/>
                          </a:solidFill>
                        </a:rPr>
                        <a:t>TC-HEAL-01</a:t>
                      </a:r>
                    </a:p>
                  </a:txBody>
                  <a:tcPr>
                    <a:solidFill>
                      <a:srgbClr val="18212F"/>
                    </a:solidFill>
                  </a:tcPr>
                </a:tc>
                <a:tc>
                  <a:txBody>
                    <a:bodyPr/>
                    <a:lstStyle/>
                    <a:p>
                      <a:r>
                        <a:rPr sz="800">
                          <a:solidFill>
                            <a:srgbClr val="E2E8F0"/>
                          </a:solidFill>
                        </a:rPr>
                        <a:t>Forensic Self-Healing</a:t>
                      </a:r>
                    </a:p>
                  </a:txBody>
                  <a:tcPr>
                    <a:solidFill>
                      <a:srgbClr val="18212F"/>
                    </a:solidFill>
                  </a:tcPr>
                </a:tc>
                <a:tc>
                  <a:txBody>
                    <a:bodyPr/>
                    <a:lstStyle/>
                    <a:p>
                      <a:r>
                        <a:rPr sz="800">
                          <a:solidFill>
                            <a:srgbClr val="E2E8F0"/>
                          </a:solidFill>
                        </a:rPr>
                        <a:t>Message decrypted and successfully viewed once</a:t>
                      </a:r>
                    </a:p>
                  </a:txBody>
                  <a:tcPr>
                    <a:solidFill>
                      <a:srgbClr val="18212F"/>
                    </a:solidFill>
                  </a:tcPr>
                </a:tc>
                <a:tc>
                  <a:txBody>
                    <a:bodyPr/>
                    <a:lstStyle/>
                    <a:p>
                      <a:r>
                        <a:rPr sz="800">
                          <a:solidFill>
                            <a:srgbClr val="E2E8F0"/>
                          </a:solidFill>
                        </a:rPr>
                        <a:t>Database restores original clean PNG; recovery copy permanently nullified</a:t>
                      </a:r>
                    </a:p>
                  </a:txBody>
                  <a:tcPr>
                    <a:solidFill>
                      <a:srgbClr val="18212F"/>
                    </a:solidFill>
                  </a:tcPr>
                </a:tc>
                <a:tc>
                  <a:txBody>
                    <a:bodyPr/>
                    <a:lstStyle/>
                    <a:p>
                      <a:pPr algn="ctr"/>
                      <a:r>
                        <a:rPr sz="800" b="1">
                          <a:solidFill>
                            <a:srgbClr val="10B981"/>
                          </a:solidFill>
                        </a:rPr>
                        <a:t>PASS (100%)</a:t>
                      </a:r>
                    </a:p>
                  </a:txBody>
                  <a:tcPr>
                    <a:solidFill>
                      <a:srgbClr val="18212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Application Visual Proof: Desktop Chatvia Dashboard</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7772400" cy="493776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shot 2026-10-29 034058.png"/>
          <p:cNvPicPr>
            <a:picLocks noChangeAspect="1"/>
          </p:cNvPicPr>
          <p:nvPr/>
        </p:nvPicPr>
        <p:blipFill>
          <a:blip r:embed="rId4"/>
          <a:stretch>
            <a:fillRect/>
          </a:stretch>
        </p:blipFill>
        <p:spPr>
          <a:xfrm>
            <a:off x="822960" y="1371600"/>
            <a:ext cx="7589520" cy="4754880"/>
          </a:xfrm>
          <a:prstGeom prst="rect">
            <a:avLst/>
          </a:prstGeom>
        </p:spPr>
      </p:pic>
      <p:sp>
        <p:nvSpPr>
          <p:cNvPr id="9" name="Rounded Rectangle 8"/>
          <p:cNvSpPr/>
          <p:nvPr/>
        </p:nvSpPr>
        <p:spPr>
          <a:xfrm>
            <a:off x="8686800" y="1280160"/>
            <a:ext cx="2773375"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1417320"/>
            <a:ext cx="2407615" cy="365760"/>
          </a:xfrm>
          <a:prstGeom prst="rect">
            <a:avLst/>
          </a:prstGeom>
          <a:noFill/>
        </p:spPr>
        <p:txBody>
          <a:bodyPr wrap="none">
            <a:spAutoFit/>
          </a:bodyPr>
          <a:lstStyle/>
          <a:p>
            <a:r>
              <a:rPr b="1" sz="1200">
                <a:solidFill>
                  <a:srgbClr val="0D9488"/>
                </a:solidFill>
              </a:rPr>
              <a:t>KEY CAPABILITIES</a:t>
            </a:r>
          </a:p>
        </p:txBody>
      </p:sp>
      <p:sp>
        <p:nvSpPr>
          <p:cNvPr id="11" name="TextBox 10"/>
          <p:cNvSpPr txBox="1"/>
          <p:nvPr/>
        </p:nvSpPr>
        <p:spPr>
          <a:xfrm>
            <a:off x="8823960" y="1691640"/>
            <a:ext cx="2499055" cy="4389120"/>
          </a:xfrm>
          <a:prstGeom prst="rect">
            <a:avLst/>
          </a:prstGeom>
          <a:noFill/>
        </p:spPr>
        <p:txBody>
          <a:bodyPr wrap="square">
            <a:spAutoFit/>
          </a:bodyPr>
          <a:lstStyle/>
          <a:p/>
          <a:p>
            <a:pPr>
              <a:spcAft>
                <a:spcPts val="800"/>
              </a:spcAft>
            </a:pPr>
            <a:r>
              <a:rPr b="1" sz="850">
                <a:solidFill>
                  <a:srgbClr val="0D9488"/>
                </a:solidFill>
              </a:rPr>
              <a:t>• Active Contact Directory:
</a:t>
            </a:r>
            <a:r>
              <a:rPr sz="750">
                <a:solidFill>
                  <a:srgbClr val="E2E8F0"/>
                </a:solidFill>
              </a:rPr>
              <a:t>Bilateral friend relationships using unique User ID codes. Displays online status in real-time.</a:t>
            </a:r>
          </a:p>
          <a:p>
            <a:pPr>
              <a:spcAft>
                <a:spcPts val="800"/>
              </a:spcAft>
            </a:pPr>
            <a:r>
              <a:rPr b="1" sz="850">
                <a:solidFill>
                  <a:srgbClr val="0D9488"/>
                </a:solidFill>
              </a:rPr>
              <a:t>• Real-Time Message Stream:
</a:t>
            </a:r>
            <a:r>
              <a:rPr sz="750">
                <a:solidFill>
                  <a:srgbClr val="E2E8F0"/>
                </a:solidFill>
              </a:rPr>
              <a:t>Instant WebSocket delivery with sub-80ms broadcast latency. Supports text, files, and private images.</a:t>
            </a:r>
          </a:p>
          <a:p>
            <a:pPr>
              <a:spcAft>
                <a:spcPts val="800"/>
              </a:spcAft>
            </a:pPr>
            <a:r>
              <a:rPr b="1" sz="850">
                <a:solidFill>
                  <a:srgbClr val="0D9488"/>
                </a:solidFill>
              </a:rPr>
              <a:t>• Steganographic Message Card:
</a:t>
            </a:r>
            <a:r>
              <a:rPr sz="750">
                <a:solidFill>
                  <a:srgbClr val="E2E8F0"/>
                </a:solidFill>
              </a:rPr>
              <a:t>Carriers render as ordinary innocent PNGs. Decrypt trigger requires biometric gating.</a:t>
            </a:r>
          </a:p>
          <a:p>
            <a:pPr>
              <a:spcAft>
                <a:spcPts val="800"/>
              </a:spcAft>
            </a:pPr>
            <a:r>
              <a:rPr b="1" sz="850">
                <a:solidFill>
                  <a:srgbClr val="0D9488"/>
                </a:solidFill>
              </a:rPr>
              <a:t>• Responsive Dark UI:
</a:t>
            </a:r>
            <a:r>
              <a:rPr sz="750">
                <a:solidFill>
                  <a:srgbClr val="E2E8F0"/>
                </a:solidFill>
              </a:rPr>
              <a:t>Engineered with Tailwind CSS and Lucide icons for maximum ergonomics and focus.</a:t>
            </a:r>
          </a:p>
          <a:p>
            <a:pPr>
              <a:spcAft>
                <a:spcPts val="800"/>
              </a:spcAft>
            </a:pPr>
            <a:r>
              <a:rPr b="1" sz="850">
                <a:solidFill>
                  <a:srgbClr val="0D9488"/>
                </a:solidFill>
              </a:rPr>
              <a:t>• Live Production URL:
</a:t>
            </a:r>
            <a:r>
              <a:rPr sz="750">
                <a:solidFill>
                  <a:srgbClr val="E2E8F0"/>
                </a:solidFill>
              </a:rPr>
              <a:t>Deployed and tested live on Render PaaS at chatvia-app-k7o7.onrender.com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Application Visual Proof: Biometric Enrollment &amp; Stego Sender</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3108960" cy="493776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2743200" cy="365760"/>
          </a:xfrm>
          <a:prstGeom prst="rect">
            <a:avLst/>
          </a:prstGeom>
          <a:noFill/>
        </p:spPr>
        <p:txBody>
          <a:bodyPr wrap="none">
            <a:spAutoFit/>
          </a:bodyPr>
          <a:lstStyle/>
          <a:p>
            <a:r>
              <a:rPr b="1" sz="1200">
                <a:solidFill>
                  <a:srgbClr val="0D9488"/>
                </a:solidFill>
              </a:rPr>
              <a:t>BIOMETRIC ENROLLMENT</a:t>
            </a:r>
          </a:p>
        </p:txBody>
      </p:sp>
      <p:pic>
        <p:nvPicPr>
          <p:cNvPr id="9" name="Picture 8" descr="Screenshot 2026-10-29 034122.png"/>
          <p:cNvPicPr>
            <a:picLocks noChangeAspect="1"/>
          </p:cNvPicPr>
          <p:nvPr/>
        </p:nvPicPr>
        <p:blipFill>
          <a:blip r:embed="rId4"/>
          <a:stretch>
            <a:fillRect/>
          </a:stretch>
        </p:blipFill>
        <p:spPr>
          <a:xfrm>
            <a:off x="868680" y="1691640"/>
            <a:ext cx="2834640" cy="4389120"/>
          </a:xfrm>
          <a:prstGeom prst="rect">
            <a:avLst/>
          </a:prstGeom>
        </p:spPr>
      </p:pic>
      <p:sp>
        <p:nvSpPr>
          <p:cNvPr id="10" name="Rounded Rectangle 9"/>
          <p:cNvSpPr/>
          <p:nvPr/>
        </p:nvSpPr>
        <p:spPr>
          <a:xfrm>
            <a:off x="4023360" y="1280160"/>
            <a:ext cx="3108960" cy="49377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417320"/>
            <a:ext cx="2743200" cy="365760"/>
          </a:xfrm>
          <a:prstGeom prst="rect">
            <a:avLst/>
          </a:prstGeom>
          <a:noFill/>
        </p:spPr>
        <p:txBody>
          <a:bodyPr wrap="none">
            <a:spAutoFit/>
          </a:bodyPr>
          <a:lstStyle/>
          <a:p>
            <a:r>
              <a:rPr b="1" sz="1200">
                <a:solidFill>
                  <a:srgbClr val="0D9488"/>
                </a:solidFill>
              </a:rPr>
              <a:t>PRIVATE STEGO MESSAGE</a:t>
            </a:r>
          </a:p>
        </p:txBody>
      </p:sp>
      <p:pic>
        <p:nvPicPr>
          <p:cNvPr id="12" name="Picture 11" descr="Screenshot 2026-10-29 034136.png"/>
          <p:cNvPicPr>
            <a:picLocks noChangeAspect="1"/>
          </p:cNvPicPr>
          <p:nvPr/>
        </p:nvPicPr>
        <p:blipFill>
          <a:blip r:embed="rId5"/>
          <a:stretch>
            <a:fillRect/>
          </a:stretch>
        </p:blipFill>
        <p:spPr>
          <a:xfrm>
            <a:off x="4160520" y="1691640"/>
            <a:ext cx="2834640" cy="4389120"/>
          </a:xfrm>
          <a:prstGeom prst="rect">
            <a:avLst/>
          </a:prstGeom>
        </p:spPr>
      </p:pic>
      <p:sp>
        <p:nvSpPr>
          <p:cNvPr id="13" name="Rounded Rectangle 12"/>
          <p:cNvSpPr/>
          <p:nvPr/>
        </p:nvSpPr>
        <p:spPr>
          <a:xfrm>
            <a:off x="7315200" y="1280160"/>
            <a:ext cx="4144975"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1417320"/>
            <a:ext cx="3779215" cy="365760"/>
          </a:xfrm>
          <a:prstGeom prst="rect">
            <a:avLst/>
          </a:prstGeom>
          <a:noFill/>
        </p:spPr>
        <p:txBody>
          <a:bodyPr wrap="none">
            <a:spAutoFit/>
          </a:bodyPr>
          <a:lstStyle/>
          <a:p>
            <a:r>
              <a:rPr b="1" sz="1200">
                <a:solidFill>
                  <a:srgbClr val="0D9488"/>
                </a:solidFill>
              </a:rPr>
              <a:t>MOBILE &amp; SECURITY WALKTHROUGH</a:t>
            </a:r>
          </a:p>
        </p:txBody>
      </p:sp>
      <p:sp>
        <p:nvSpPr>
          <p:cNvPr id="15" name="TextBox 14"/>
          <p:cNvSpPr txBox="1"/>
          <p:nvPr/>
        </p:nvSpPr>
        <p:spPr>
          <a:xfrm>
            <a:off x="7498079" y="1691640"/>
            <a:ext cx="3779215" cy="4389120"/>
          </a:xfrm>
          <a:prstGeom prst="rect">
            <a:avLst/>
          </a:prstGeom>
          <a:noFill/>
        </p:spPr>
        <p:txBody>
          <a:bodyPr wrap="square">
            <a:spAutoFit/>
          </a:bodyPr>
          <a:lstStyle/>
          <a:p/>
          <a:p>
            <a:pPr>
              <a:spcAft>
                <a:spcPts val="1000"/>
              </a:spcAft>
            </a:pPr>
            <a:r>
              <a:rPr b="1" sz="900">
                <a:solidFill>
                  <a:srgbClr val="0D9488"/>
                </a:solidFill>
              </a:rPr>
              <a:t>• Mandatory Biometric Registration (Figure 2):
</a:t>
            </a:r>
            <a:r>
              <a:rPr sz="800">
                <a:solidFill>
                  <a:srgbClr val="E2E8F0"/>
                </a:solidFill>
              </a:rPr>
              <a:t>Users cannot sign up without explicit camera consent and single-face capture. InspireFace validates alignment, eliminates multi-face fraud, and outputs a 512-d embedding. The raw photograph is instantly destroyed.</a:t>
            </a:r>
          </a:p>
          <a:p>
            <a:pPr>
              <a:spcAft>
                <a:spcPts val="1000"/>
              </a:spcAft>
            </a:pPr>
            <a:r>
              <a:rPr b="1" sz="900">
                <a:solidFill>
                  <a:srgbClr val="0D9488"/>
                </a:solidFill>
              </a:rPr>
              <a:t>• Master Key Encryption Before Persistence:
</a:t>
            </a:r>
            <a:r>
              <a:rPr sz="800">
                <a:solidFill>
                  <a:srgbClr val="E2E8F0"/>
                </a:solidFill>
              </a:rPr>
              <a:t>Biometric templates are encrypted with AES-256-GCM via the backend's secret master key prior to PostgreSQL storage, preventing data leakage in database dumps.</a:t>
            </a:r>
          </a:p>
          <a:p>
            <a:pPr>
              <a:spcAft>
                <a:spcPts val="1000"/>
              </a:spcAft>
            </a:pPr>
            <a:r>
              <a:rPr b="1" sz="900">
                <a:solidFill>
                  <a:srgbClr val="0D9488"/>
                </a:solidFill>
              </a:rPr>
              <a:t>• Private Image Message Composition (Figure 3):
</a:t>
            </a:r>
            <a:r>
              <a:rPr sz="800">
                <a:solidFill>
                  <a:srgbClr val="E2E8F0"/>
                </a:solidFill>
              </a:rPr>
              <a:t>Users toggle 'Private image message' in the chat composer. An innocent carrier PNG is selected, and secret text is typed. The client encrypts the text with WebCrypto before sending to the stego engine.</a:t>
            </a:r>
          </a:p>
          <a:p>
            <a:pPr>
              <a:spcAft>
                <a:spcPts val="1000"/>
              </a:spcAft>
            </a:pPr>
            <a:r>
              <a:rPr b="1" sz="900">
                <a:solidFill>
                  <a:srgbClr val="0D9488"/>
                </a:solidFill>
              </a:rPr>
              <a:t>• Friendship Key Management &amp; Rotation:
</a:t>
            </a:r>
            <a:r>
              <a:rPr sz="800">
                <a:solidFill>
                  <a:srgbClr val="E2E8F0"/>
                </a:solidFill>
              </a:rPr>
              <a:t>Friends agree on a shared passphrase once. Derived keys persist in IndexedDB without ever being sent across the wire. Key rotation is blocked if unread stego messages exist.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Challenges Faced &amp; Engineering Solutions</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10728655" cy="896112"/>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10362895" cy="365760"/>
          </a:xfrm>
          <a:prstGeom prst="rect">
            <a:avLst/>
          </a:prstGeom>
          <a:noFill/>
        </p:spPr>
        <p:txBody>
          <a:bodyPr wrap="none">
            <a:spAutoFit/>
          </a:bodyPr>
          <a:lstStyle/>
          <a:p>
            <a:r>
              <a:rPr b="1" sz="1200">
                <a:solidFill>
                  <a:srgbClr val="0D9488"/>
                </a:solidFill>
              </a:rPr>
              <a:t>1. Render Single-Port Limitation</a:t>
            </a:r>
          </a:p>
        </p:txBody>
      </p:sp>
      <p:sp>
        <p:nvSpPr>
          <p:cNvPr id="9" name="TextBox 8"/>
          <p:cNvSpPr txBox="1"/>
          <p:nvPr/>
        </p:nvSpPr>
        <p:spPr>
          <a:xfrm>
            <a:off x="914400" y="1572768"/>
            <a:ext cx="10362895" cy="548640"/>
          </a:xfrm>
          <a:prstGeom prst="rect">
            <a:avLst/>
          </a:prstGeom>
          <a:noFill/>
        </p:spPr>
        <p:txBody>
          <a:bodyPr wrap="square">
            <a:spAutoFit/>
          </a:bodyPr>
          <a:lstStyle/>
          <a:p>
            <a:r>
              <a:rPr b="1" sz="800">
                <a:solidFill>
                  <a:srgbClr val="F59E0B"/>
                </a:solidFill>
              </a:rPr>
              <a:t>Challenge: </a:t>
            </a:r>
            <a:r>
              <a:rPr sz="800">
                <a:solidFill>
                  <a:srgbClr val="94A3B8"/>
                </a:solidFill>
              </a:rPr>
              <a:t>Cloud PaaS provides only one public web port ($PORT), but the architecture requires a React SPA, Express REST API, and WebSocket channels.  </a:t>
            </a:r>
            <a:r>
              <a:rPr b="1" sz="800">
                <a:solidFill>
                  <a:srgbClr val="10B981"/>
                </a:solidFill>
              </a:rPr>
              <a:t>→ Solution: </a:t>
            </a:r>
            <a:r>
              <a:rPr sz="800">
                <a:solidFill>
                  <a:srgbClr val="FFFFFF"/>
                </a:solidFill>
              </a:rPr>
              <a:t>Engineered a unified root build script (`npm run build`) compiling both client and server. Express 5 acts as reverse proxy, serving Vite's compiled dist/ directory statically and routing API/WS paths cleanly.</a:t>
            </a:r>
          </a:p>
        </p:txBody>
      </p:sp>
      <p:sp>
        <p:nvSpPr>
          <p:cNvPr id="10" name="Rounded Rectangle 9"/>
          <p:cNvSpPr/>
          <p:nvPr/>
        </p:nvSpPr>
        <p:spPr>
          <a:xfrm>
            <a:off x="731520" y="2267712"/>
            <a:ext cx="10728655" cy="896112"/>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04872"/>
            <a:ext cx="10362895" cy="365760"/>
          </a:xfrm>
          <a:prstGeom prst="rect">
            <a:avLst/>
          </a:prstGeom>
          <a:noFill/>
        </p:spPr>
        <p:txBody>
          <a:bodyPr wrap="none">
            <a:spAutoFit/>
          </a:bodyPr>
          <a:lstStyle/>
          <a:p>
            <a:r>
              <a:rPr b="1" sz="1200">
                <a:solidFill>
                  <a:srgbClr val="0D9488"/>
                </a:solidFill>
              </a:rPr>
              <a:t>2. Supabase SSL Pooler Rejection</a:t>
            </a:r>
          </a:p>
        </p:txBody>
      </p:sp>
      <p:sp>
        <p:nvSpPr>
          <p:cNvPr id="12" name="TextBox 11"/>
          <p:cNvSpPr txBox="1"/>
          <p:nvPr/>
        </p:nvSpPr>
        <p:spPr>
          <a:xfrm>
            <a:off x="914400" y="2560320"/>
            <a:ext cx="10362895" cy="548640"/>
          </a:xfrm>
          <a:prstGeom prst="rect">
            <a:avLst/>
          </a:prstGeom>
          <a:noFill/>
        </p:spPr>
        <p:txBody>
          <a:bodyPr wrap="square">
            <a:spAutoFit/>
          </a:bodyPr>
          <a:lstStyle/>
          <a:p>
            <a:r>
              <a:rPr b="1" sz="800">
                <a:solidFill>
                  <a:srgbClr val="F59E0B"/>
                </a:solidFill>
              </a:rPr>
              <a:t>Challenge: </a:t>
            </a:r>
            <a:r>
              <a:rPr sz="800">
                <a:solidFill>
                  <a:srgbClr val="94A3B8"/>
                </a:solidFill>
              </a:rPr>
              <a:t>The Node.js pg driver crashed with SELF_SIGNED_CERT_IN_CHAIN when connecting to the Supabase transaction pooler.  </a:t>
            </a:r>
            <a:r>
              <a:rPr b="1" sz="800">
                <a:solidFill>
                  <a:srgbClr val="10B981"/>
                </a:solidFill>
              </a:rPr>
              <a:t>→ Solution: </a:t>
            </a:r>
            <a:r>
              <a:rPr sz="800">
                <a:solidFill>
                  <a:srgbClr val="FFFFFF"/>
                </a:solidFill>
              </a:rPr>
              <a:t>Implemented dynamic SSL configuration in server/src/db.ts detecting DATABASE_URL and enforcing { rejectUnauthorized: false } for seamless cloud pooler connectivity.</a:t>
            </a:r>
          </a:p>
        </p:txBody>
      </p:sp>
      <p:sp>
        <p:nvSpPr>
          <p:cNvPr id="13" name="Rounded Rectangle 12"/>
          <p:cNvSpPr/>
          <p:nvPr/>
        </p:nvSpPr>
        <p:spPr>
          <a:xfrm>
            <a:off x="731520" y="3255264"/>
            <a:ext cx="10728655" cy="896112"/>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392424"/>
            <a:ext cx="10362895" cy="365760"/>
          </a:xfrm>
          <a:prstGeom prst="rect">
            <a:avLst/>
          </a:prstGeom>
          <a:noFill/>
        </p:spPr>
        <p:txBody>
          <a:bodyPr wrap="none">
            <a:spAutoFit/>
          </a:bodyPr>
          <a:lstStyle/>
          <a:p>
            <a:r>
              <a:rPr b="1" sz="1200">
                <a:solidFill>
                  <a:srgbClr val="0D9488"/>
                </a:solidFill>
              </a:rPr>
              <a:t>3. Python 3.12 AI C-Library Wheels</a:t>
            </a:r>
          </a:p>
        </p:txBody>
      </p:sp>
      <p:sp>
        <p:nvSpPr>
          <p:cNvPr id="15" name="TextBox 14"/>
          <p:cNvSpPr txBox="1"/>
          <p:nvPr/>
        </p:nvSpPr>
        <p:spPr>
          <a:xfrm>
            <a:off x="914400" y="3547872"/>
            <a:ext cx="10362895" cy="548640"/>
          </a:xfrm>
          <a:prstGeom prst="rect">
            <a:avLst/>
          </a:prstGeom>
          <a:noFill/>
        </p:spPr>
        <p:txBody>
          <a:bodyPr wrap="square">
            <a:spAutoFit/>
          </a:bodyPr>
          <a:lstStyle/>
          <a:p>
            <a:r>
              <a:rPr b="1" sz="800">
                <a:solidFill>
                  <a:srgbClr val="F59E0B"/>
                </a:solidFill>
              </a:rPr>
              <a:t>Challenge: </a:t>
            </a:r>
            <a:r>
              <a:rPr sz="800">
                <a:solidFill>
                  <a:srgbClr val="94A3B8"/>
                </a:solidFill>
              </a:rPr>
              <a:t>InspireFace native C-bindings lack prebuilt binaries for Python 3.13, causing segmentation faults on newer runtimes.  </a:t>
            </a:r>
            <a:r>
              <a:rPr b="1" sz="800">
                <a:solidFill>
                  <a:srgbClr val="10B981"/>
                </a:solidFill>
              </a:rPr>
              <a:t>→ Solution: </a:t>
            </a:r>
            <a:r>
              <a:rPr sz="800">
                <a:solidFill>
                  <a:srgbClr val="FFFFFF"/>
                </a:solidFill>
              </a:rPr>
              <a:t>Configured dedicated Python 3.12 environment and introduced a thread synchronization lock (_session_lock) around inference calls to guarantee thread safety.</a:t>
            </a:r>
          </a:p>
        </p:txBody>
      </p:sp>
      <p:sp>
        <p:nvSpPr>
          <p:cNvPr id="16" name="Rounded Rectangle 15"/>
          <p:cNvSpPr/>
          <p:nvPr/>
        </p:nvSpPr>
        <p:spPr>
          <a:xfrm>
            <a:off x="731520" y="4242816"/>
            <a:ext cx="10728655" cy="896112"/>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79976"/>
            <a:ext cx="10362895" cy="365760"/>
          </a:xfrm>
          <a:prstGeom prst="rect">
            <a:avLst/>
          </a:prstGeom>
          <a:noFill/>
        </p:spPr>
        <p:txBody>
          <a:bodyPr wrap="none">
            <a:spAutoFit/>
          </a:bodyPr>
          <a:lstStyle/>
          <a:p>
            <a:r>
              <a:rPr b="1" sz="1200">
                <a:solidFill>
                  <a:srgbClr val="0D9488"/>
                </a:solidFill>
              </a:rPr>
              <a:t>4. Camera Stream Lifecycle Leaks</a:t>
            </a:r>
          </a:p>
        </p:txBody>
      </p:sp>
      <p:sp>
        <p:nvSpPr>
          <p:cNvPr id="18" name="TextBox 17"/>
          <p:cNvSpPr txBox="1"/>
          <p:nvPr/>
        </p:nvSpPr>
        <p:spPr>
          <a:xfrm>
            <a:off x="914400" y="4535424"/>
            <a:ext cx="10362895" cy="548640"/>
          </a:xfrm>
          <a:prstGeom prst="rect">
            <a:avLst/>
          </a:prstGeom>
          <a:noFill/>
        </p:spPr>
        <p:txBody>
          <a:bodyPr wrap="square">
            <a:spAutoFit/>
          </a:bodyPr>
          <a:lstStyle/>
          <a:p>
            <a:r>
              <a:rPr b="1" sz="800">
                <a:solidFill>
                  <a:srgbClr val="F59E0B"/>
                </a:solidFill>
              </a:rPr>
              <a:t>Challenge: </a:t>
            </a:r>
            <a:r>
              <a:rPr sz="800">
                <a:solidFill>
                  <a:srgbClr val="94A3B8"/>
                </a:solidFill>
              </a:rPr>
              <a:t>Background tabs or switching views left hardware webcam tracks active, wasting battery and triggering security indicators.  </a:t>
            </a:r>
            <a:r>
              <a:rPr b="1" sz="800">
                <a:solidFill>
                  <a:srgbClr val="10B981"/>
                </a:solidFill>
              </a:rPr>
              <a:t>→ Solution: </a:t>
            </a:r>
            <a:r>
              <a:rPr sz="800">
                <a:solidFill>
                  <a:srgbClr val="FFFFFF"/>
                </a:solidFill>
              </a:rPr>
              <a:t>Implemented HTML5 visibilitychange listeners and ended event handlers that instantly terminate all media stream tracks when the user changes tabs or closes the card.</a:t>
            </a:r>
          </a:p>
        </p:txBody>
      </p:sp>
      <p:sp>
        <p:nvSpPr>
          <p:cNvPr id="19" name="Rounded Rectangle 18"/>
          <p:cNvSpPr/>
          <p:nvPr/>
        </p:nvSpPr>
        <p:spPr>
          <a:xfrm>
            <a:off x="731520" y="5230368"/>
            <a:ext cx="10728655" cy="896112"/>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367528"/>
            <a:ext cx="10362895" cy="365760"/>
          </a:xfrm>
          <a:prstGeom prst="rect">
            <a:avLst/>
          </a:prstGeom>
          <a:noFill/>
        </p:spPr>
        <p:txBody>
          <a:bodyPr wrap="none">
            <a:spAutoFit/>
          </a:bodyPr>
          <a:lstStyle/>
          <a:p>
            <a:r>
              <a:rPr b="1" sz="1200">
                <a:solidFill>
                  <a:srgbClr val="0D9488"/>
                </a:solidFill>
              </a:rPr>
              <a:t>5. Steganographic Visual Artifacts</a:t>
            </a:r>
          </a:p>
        </p:txBody>
      </p:sp>
      <p:sp>
        <p:nvSpPr>
          <p:cNvPr id="21" name="TextBox 20"/>
          <p:cNvSpPr txBox="1"/>
          <p:nvPr/>
        </p:nvSpPr>
        <p:spPr>
          <a:xfrm>
            <a:off x="914400" y="5522976"/>
            <a:ext cx="10362895" cy="548640"/>
          </a:xfrm>
          <a:prstGeom prst="rect">
            <a:avLst/>
          </a:prstGeom>
          <a:noFill/>
        </p:spPr>
        <p:txBody>
          <a:bodyPr wrap="square">
            <a:spAutoFit/>
          </a:bodyPr>
          <a:lstStyle/>
          <a:p>
            <a:r>
              <a:rPr b="1" sz="800">
                <a:solidFill>
                  <a:srgbClr val="F59E0B"/>
                </a:solidFill>
              </a:rPr>
              <a:t>Challenge: </a:t>
            </a:r>
            <a:r>
              <a:rPr sz="800">
                <a:solidFill>
                  <a:srgbClr val="94A3B8"/>
                </a:solidFill>
              </a:rPr>
              <a:t>Traditional sequential LSB insertion produces noticeable rectangular bands or color shifts in image gradients.  </a:t>
            </a:r>
            <a:r>
              <a:rPr b="1" sz="800">
                <a:solidFill>
                  <a:srgbClr val="10B981"/>
                </a:solidFill>
              </a:rPr>
              <a:t>→ Solution: </a:t>
            </a:r>
            <a:r>
              <a:rPr sz="800">
                <a:solidFill>
                  <a:srgbClr val="FFFFFF"/>
                </a:solidFill>
              </a:rPr>
              <a:t>Developed a randomized NumPy PRNG bit distribution seeded by a 16-byte cryptographic token, scattering bits across RGB channels with zero perceptible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Results, Outcomes, Limitations &amp; Future Roadmap</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5257800" cy="49377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4892040" cy="365760"/>
          </a:xfrm>
          <a:prstGeom prst="rect">
            <a:avLst/>
          </a:prstGeom>
          <a:noFill/>
        </p:spPr>
        <p:txBody>
          <a:bodyPr wrap="none">
            <a:spAutoFit/>
          </a:bodyPr>
          <a:lstStyle/>
          <a:p>
            <a:r>
              <a:rPr b="1" sz="1200">
                <a:solidFill>
                  <a:srgbClr val="0D9488"/>
                </a:solidFill>
              </a:rPr>
              <a:t>ACHIEVEMENTS &amp; MEASURED RESULTS</a:t>
            </a:r>
          </a:p>
        </p:txBody>
      </p:sp>
      <p:sp>
        <p:nvSpPr>
          <p:cNvPr id="9" name="TextBox 8"/>
          <p:cNvSpPr txBox="1"/>
          <p:nvPr/>
        </p:nvSpPr>
        <p:spPr>
          <a:xfrm>
            <a:off x="914400" y="1691640"/>
            <a:ext cx="4892040" cy="4389120"/>
          </a:xfrm>
          <a:prstGeom prst="rect">
            <a:avLst/>
          </a:prstGeom>
          <a:noFill/>
        </p:spPr>
        <p:txBody>
          <a:bodyPr wrap="square">
            <a:spAutoFit/>
          </a:bodyPr>
          <a:lstStyle/>
          <a:p/>
          <a:p>
            <a:pPr>
              <a:spcAft>
                <a:spcPts val="800"/>
              </a:spcAft>
            </a:pPr>
            <a:r>
              <a:rPr b="1" sz="900">
                <a:solidFill>
                  <a:srgbClr val="10B981"/>
                </a:solidFill>
              </a:rPr>
              <a:t>✔ Sub-80ms Real-Time Delivery:
</a:t>
            </a:r>
            <a:r>
              <a:rPr sz="800">
                <a:solidFill>
                  <a:srgbClr val="E2E8F0"/>
                </a:solidFill>
              </a:rPr>
              <a:t>WebSocket broadcasts achieve instantaneous message synchronization between clients under real-world network loads.</a:t>
            </a:r>
          </a:p>
          <a:p>
            <a:pPr>
              <a:spcAft>
                <a:spcPts val="800"/>
              </a:spcAft>
            </a:pPr>
            <a:r>
              <a:rPr b="1" sz="900">
                <a:solidFill>
                  <a:srgbClr val="10B981"/>
                </a:solidFill>
              </a:rPr>
              <a:t>✔ &lt; 70ms Biometric Inference:
</a:t>
            </a:r>
            <a:r>
              <a:rPr sz="800">
                <a:solidFill>
                  <a:srgbClr val="E2E8F0"/>
                </a:solidFill>
              </a:rPr>
              <a:t>InspireFace 512-d feature extraction and cosine verification execute in under 70ms on standard CPUs.</a:t>
            </a:r>
          </a:p>
          <a:p>
            <a:pPr>
              <a:spcAft>
                <a:spcPts val="800"/>
              </a:spcAft>
            </a:pPr>
            <a:r>
              <a:rPr b="1" sz="900">
                <a:solidFill>
                  <a:srgbClr val="10B981"/>
                </a:solidFill>
              </a:rPr>
              <a:t>✔ Zero-Knowledge Privacy:
</a:t>
            </a:r>
            <a:r>
              <a:rPr sz="800">
                <a:solidFill>
                  <a:srgbClr val="E2E8F0"/>
                </a:solidFill>
              </a:rPr>
              <a:t>Zero raw facial images stored; zero plaintext stored in database; encryption keys never touch the server.</a:t>
            </a:r>
          </a:p>
          <a:p>
            <a:pPr>
              <a:spcAft>
                <a:spcPts val="800"/>
              </a:spcAft>
            </a:pPr>
            <a:r>
              <a:rPr b="1" sz="900">
                <a:solidFill>
                  <a:srgbClr val="10B981"/>
                </a:solidFill>
              </a:rPr>
              <a:t>✔ 100% Comprehensive Test Pass:
</a:t>
            </a:r>
            <a:r>
              <a:rPr sz="800">
                <a:solidFill>
                  <a:srgbClr val="E2E8F0"/>
                </a:solidFill>
              </a:rPr>
              <a:t>All 20 test cases validated across registration, auth, keys, steganography, biometrics, and database self-healing.</a:t>
            </a:r>
          </a:p>
          <a:p>
            <a:pPr>
              <a:spcAft>
                <a:spcPts val="800"/>
              </a:spcAft>
            </a:pPr>
            <a:r>
              <a:rPr b="1" sz="900">
                <a:solidFill>
                  <a:srgbClr val="10B981"/>
                </a:solidFill>
              </a:rPr>
              <a:t>✔ Production Cloud PaaS Deployment:
</a:t>
            </a:r>
            <a:r>
              <a:rPr sz="800">
                <a:solidFill>
                  <a:srgbClr val="E2E8F0"/>
                </a:solidFill>
              </a:rPr>
              <a:t>Publicly hosted and accessible 24/7 on Render at chatvia-app-k7o7.onrender.com</a:t>
            </a:r>
          </a:p>
        </p:txBody>
      </p:sp>
      <p:sp>
        <p:nvSpPr>
          <p:cNvPr id="10" name="Rounded Rectangle 9"/>
          <p:cNvSpPr/>
          <p:nvPr/>
        </p:nvSpPr>
        <p:spPr>
          <a:xfrm>
            <a:off x="6199632" y="1280160"/>
            <a:ext cx="5257800" cy="49377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417320"/>
            <a:ext cx="4892040" cy="365760"/>
          </a:xfrm>
          <a:prstGeom prst="rect">
            <a:avLst/>
          </a:prstGeom>
          <a:noFill/>
        </p:spPr>
        <p:txBody>
          <a:bodyPr wrap="none">
            <a:spAutoFit/>
          </a:bodyPr>
          <a:lstStyle/>
          <a:p>
            <a:r>
              <a:rPr b="1" sz="1200">
                <a:solidFill>
                  <a:srgbClr val="0D9488"/>
                </a:solidFill>
              </a:rPr>
              <a:t>LIMITATIONS &amp; FUTURE ROADMAP</a:t>
            </a:r>
          </a:p>
        </p:txBody>
      </p:sp>
      <p:sp>
        <p:nvSpPr>
          <p:cNvPr id="12" name="TextBox 11"/>
          <p:cNvSpPr txBox="1"/>
          <p:nvPr/>
        </p:nvSpPr>
        <p:spPr>
          <a:xfrm>
            <a:off x="6382512" y="1691640"/>
            <a:ext cx="4892040" cy="4389120"/>
          </a:xfrm>
          <a:prstGeom prst="rect">
            <a:avLst/>
          </a:prstGeom>
          <a:noFill/>
        </p:spPr>
        <p:txBody>
          <a:bodyPr wrap="square">
            <a:spAutoFit/>
          </a:bodyPr>
          <a:lstStyle/>
          <a:p/>
          <a:p>
            <a:pPr>
              <a:spcAft>
                <a:spcPts val="800"/>
              </a:spcAft>
            </a:pPr>
            <a:r>
              <a:rPr b="1" sz="900">
                <a:solidFill>
                  <a:srgbClr val="3B82F6"/>
                </a:solidFill>
              </a:rPr>
              <a:t>✦ Current Limitations:
</a:t>
            </a:r>
            <a:r>
              <a:rPr sz="800">
                <a:solidFill>
                  <a:srgbClr val="E2E8F0"/>
                </a:solidFill>
              </a:rPr>
              <a:t>Requires lossless PNG carrier (JPEG/WebP corrupts LSB bits); 2D camera verification does not detect 3D infrared depth; per-device IndexedDB key requires unlocking once on new browsers.</a:t>
            </a:r>
          </a:p>
          <a:p>
            <a:pPr>
              <a:spcAft>
                <a:spcPts val="800"/>
              </a:spcAft>
            </a:pPr>
            <a:r>
              <a:rPr b="1" sz="900">
                <a:solidFill>
                  <a:srgbClr val="3B82F6"/>
                </a:solidFill>
              </a:rPr>
              <a:t>✦ Active Liveness &amp; Micro-Movement:
</a:t>
            </a:r>
            <a:r>
              <a:rPr sz="800">
                <a:solidFill>
                  <a:srgbClr val="E2E8F0"/>
                </a:solidFill>
              </a:rPr>
              <a:t>Future enhancement to track blink frequency, head-pose jitter, and micro-movements to defeat high-res photograph spoofing attacks.</a:t>
            </a:r>
          </a:p>
          <a:p>
            <a:pPr>
              <a:spcAft>
                <a:spcPts val="800"/>
              </a:spcAft>
            </a:pPr>
            <a:r>
              <a:rPr b="1" sz="900">
                <a:solidFill>
                  <a:srgbClr val="3B82F6"/>
                </a:solidFill>
              </a:rPr>
              <a:t>✦ Zero-Knowledge Biometric Proofs (zk-SNARKs):
</a:t>
            </a:r>
            <a:r>
              <a:rPr sz="800">
                <a:solidFill>
                  <a:srgbClr val="E2E8F0"/>
                </a:solidFill>
              </a:rPr>
              <a:t>Enabling clients to mathematically prove biometric ownership without transmitting encrypted embedding vectors to the server.</a:t>
            </a:r>
          </a:p>
          <a:p>
            <a:pPr>
              <a:spcAft>
                <a:spcPts val="800"/>
              </a:spcAft>
            </a:pPr>
            <a:r>
              <a:rPr b="1" sz="900">
                <a:solidFill>
                  <a:srgbClr val="3B82F6"/>
                </a:solidFill>
              </a:rPr>
              <a:t>✦ Audio &amp; Video Steganography:
</a:t>
            </a:r>
            <a:r>
              <a:rPr sz="800">
                <a:solidFill>
                  <a:srgbClr val="E2E8F0"/>
                </a:solidFill>
              </a:rPr>
              <a:t>Expanding carrier support to lossless FLAC audio and WebM video streams for rich confidential multimedia data transfers.</a:t>
            </a:r>
          </a:p>
          <a:p>
            <a:pPr>
              <a:spcAft>
                <a:spcPts val="800"/>
              </a:spcAft>
            </a:pPr>
            <a:r>
              <a:rPr b="1" sz="900">
                <a:solidFill>
                  <a:srgbClr val="3B82F6"/>
                </a:solidFill>
              </a:rPr>
              <a:t>✦ Decentralized P2P WebRTC Data Mesh:
</a:t>
            </a:r>
            <a:r>
              <a:rPr sz="800">
                <a:solidFill>
                  <a:srgbClr val="E2E8F0"/>
                </a:solidFill>
              </a:rPr>
              <a:t>Direct device-to-device encrypted data pipes bypassing centralized servers for extreme high-confidentiality scenarios.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365760"/>
          </a:xfrm>
          <a:prstGeom prst="rect">
            <a:avLst/>
          </a:prstGeom>
          <a:noFill/>
        </p:spPr>
        <p:txBody>
          <a:bodyPr wrap="none">
            <a:spAutoFit/>
          </a:bodyPr>
          <a:lstStyle/>
          <a:p>
            <a:r>
              <a:rPr b="1" sz="900">
                <a:solidFill>
                  <a:srgbClr val="0D9488"/>
                </a:solidFill>
              </a:rPr>
              <a:t>TEAM 65 (VELTROX)  |  HACKMITTEN 2026  •  </a:t>
            </a:r>
            <a:r>
              <a:rPr b="0" sz="900">
                <a:solidFill>
                  <a:srgbClr val="94A3B8"/>
                </a:solidFill>
              </a:rPr>
              <a:t>PHASE 4: FINAL PROJECT PRESENTATION</a:t>
            </a:r>
          </a:p>
        </p:txBody>
      </p:sp>
      <p:sp>
        <p:nvSpPr>
          <p:cNvPr id="4" name="TextBox 3"/>
          <p:cNvSpPr txBox="1"/>
          <p:nvPr/>
        </p:nvSpPr>
        <p:spPr>
          <a:xfrm>
            <a:off x="731520" y="594360"/>
            <a:ext cx="8686800" cy="548640"/>
          </a:xfrm>
          <a:prstGeom prst="rect">
            <a:avLst/>
          </a:prstGeom>
          <a:noFill/>
        </p:spPr>
        <p:txBody>
          <a:bodyPr wrap="none">
            <a:spAutoFit/>
          </a:bodyPr>
          <a:lstStyle/>
          <a:p>
            <a:r>
              <a:rPr b="1" sz="2000">
                <a:solidFill>
                  <a:srgbClr val="FFFFFF"/>
                </a:solidFill>
              </a:rPr>
              <a:t>Conclusion &amp; Interactive Live Demonstration</a:t>
            </a:r>
          </a:p>
        </p:txBody>
      </p:sp>
      <p:sp>
        <p:nvSpPr>
          <p:cNvPr id="5" name="Rounded Rectangle 4"/>
          <p:cNvSpPr/>
          <p:nvPr/>
        </p:nvSpPr>
        <p:spPr>
          <a:xfrm>
            <a:off x="9692640" y="594360"/>
            <a:ext cx="1234440" cy="329184"/>
          </a:xfrm>
          <a:prstGeom prst="roundRect">
            <a:avLst/>
          </a:prstGeom>
          <a:solidFill>
            <a:srgbClr val="0D948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FFFFFF"/>
                </a:solidFill>
                <a:hlinkClick r:id="rId2"/>
              </a:rPr>
              <a:t>⚡ Live Demo</a:t>
            </a:r>
          </a:p>
        </p:txBody>
      </p:sp>
      <p:sp>
        <p:nvSpPr>
          <p:cNvPr id="6" name="Rounded Rectangle 5"/>
          <p:cNvSpPr/>
          <p:nvPr/>
        </p:nvSpPr>
        <p:spPr>
          <a:xfrm>
            <a:off x="11018520" y="594360"/>
            <a:ext cx="822960" cy="32918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900">
                <a:solidFill>
                  <a:srgbClr val="E2E8F0"/>
                </a:solidFill>
                <a:hlinkClick r:id="rId3"/>
              </a:rPr>
              <a:t>GitHub</a:t>
            </a:r>
          </a:p>
        </p:txBody>
      </p:sp>
      <p:sp>
        <p:nvSpPr>
          <p:cNvPr id="7" name="Rounded Rectangle 6"/>
          <p:cNvSpPr/>
          <p:nvPr/>
        </p:nvSpPr>
        <p:spPr>
          <a:xfrm>
            <a:off x="731520" y="1280160"/>
            <a:ext cx="10728655"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10362895" cy="365760"/>
          </a:xfrm>
          <a:prstGeom prst="rect">
            <a:avLst/>
          </a:prstGeom>
          <a:noFill/>
        </p:spPr>
        <p:txBody>
          <a:bodyPr wrap="none">
            <a:spAutoFit/>
          </a:bodyPr>
          <a:lstStyle/>
          <a:p>
            <a:r>
              <a:rPr b="1" sz="1200">
                <a:solidFill>
                  <a:srgbClr val="0D9488"/>
                </a:solidFill>
              </a:rPr>
              <a:t>FINAL PROJECT CONCLUSION</a:t>
            </a:r>
          </a:p>
        </p:txBody>
      </p:sp>
      <p:sp>
        <p:nvSpPr>
          <p:cNvPr id="9" name="TextBox 8"/>
          <p:cNvSpPr txBox="1"/>
          <p:nvPr/>
        </p:nvSpPr>
        <p:spPr>
          <a:xfrm>
            <a:off x="914400" y="1691640"/>
            <a:ext cx="10362895" cy="1554480"/>
          </a:xfrm>
          <a:prstGeom prst="rect">
            <a:avLst/>
          </a:prstGeom>
          <a:noFill/>
        </p:spPr>
        <p:txBody>
          <a:bodyPr wrap="square">
            <a:spAutoFit/>
          </a:bodyPr>
          <a:lstStyle/>
          <a:p>
            <a:r>
              <a:rPr sz="950">
                <a:solidFill>
                  <a:srgbClr val="E2E8F0"/>
                </a:solidFill>
              </a:rPr>
              <a:t>The complete engineering journey of Team 65 (Veltrox) from Phase 1 conceptualization to Phase 4 final cloud delivery demonstrates that digital privacy and physical confidentiality can be harmoniously unified without compromising usability.
By fusing InspireFace AI Biometrics, Client-Side WebCrypto AES-GCM, Randomized Digital Steganography, and Ephemeral Forensic Self-Healing, Chatvia successfully eliminates the 'last-inch' presentation vulnerability. With 100% test verification and a live production cloud deployment, Chatvia stands as an innovative, robust, and battle-tested milestone in confidential communication.</a:t>
            </a:r>
          </a:p>
        </p:txBody>
      </p:sp>
      <p:sp>
        <p:nvSpPr>
          <p:cNvPr id="10" name="Rounded Rectangle 9"/>
          <p:cNvSpPr/>
          <p:nvPr/>
        </p:nvSpPr>
        <p:spPr>
          <a:xfrm>
            <a:off x="731520" y="3611880"/>
            <a:ext cx="3456432" cy="118872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hlinkClick r:id="rId2"/>
              </a:rPr>
              <a:t>🚀 Launch Live Cloud Application
</a:t>
            </a:r>
          </a:p>
          <a:p>
            <a:pPr algn="ctr"/>
            <a:r>
              <a:rPr sz="850">
                <a:solidFill>
                  <a:srgbClr val="0D9488"/>
                </a:solidFill>
              </a:rPr>
              <a:t>Public Render Deployment</a:t>
            </a:r>
          </a:p>
        </p:txBody>
      </p:sp>
      <p:sp>
        <p:nvSpPr>
          <p:cNvPr id="11" name="Rounded Rectangle 10"/>
          <p:cNvSpPr/>
          <p:nvPr/>
        </p:nvSpPr>
        <p:spPr>
          <a:xfrm>
            <a:off x="4370832" y="3611880"/>
            <a:ext cx="3456432" cy="1188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hlinkClick r:id="rId3"/>
              </a:rPr>
              <a:t>📂 GitHub Source Code Repository
</a:t>
            </a:r>
          </a:p>
          <a:p>
            <a:pPr algn="ctr"/>
            <a:r>
              <a:rPr sz="850">
                <a:solidFill>
                  <a:srgbClr val="3B82F6"/>
                </a:solidFill>
              </a:rPr>
              <a:t>Full Source &amp; History</a:t>
            </a:r>
          </a:p>
        </p:txBody>
      </p:sp>
      <p:sp>
        <p:nvSpPr>
          <p:cNvPr id="12" name="Rounded Rectangle 11"/>
          <p:cNvSpPr/>
          <p:nvPr/>
        </p:nvSpPr>
        <p:spPr>
          <a:xfrm>
            <a:off x="8010144" y="3611880"/>
            <a:ext cx="3456432" cy="1188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100">
                <a:solidFill>
                  <a:srgbClr val="FFFFFF"/>
                </a:solidFill>
                <a:hlinkClick r:id="rId4"/>
              </a:rPr>
              <a:t>📄 Complete Project Documentation
</a:t>
            </a:r>
          </a:p>
          <a:p>
            <a:pPr algn="ctr"/>
            <a:r>
              <a:rPr sz="850">
                <a:solidFill>
                  <a:srgbClr val="10B981"/>
                </a:solidFill>
              </a:rPr>
              <a:t>Phase 4 Master PDF Report</a:t>
            </a:r>
          </a:p>
        </p:txBody>
      </p:sp>
      <p:sp>
        <p:nvSpPr>
          <p:cNvPr id="13" name="Rounded Rectangle 12"/>
          <p:cNvSpPr/>
          <p:nvPr/>
        </p:nvSpPr>
        <p:spPr>
          <a:xfrm>
            <a:off x="731520" y="4983480"/>
            <a:ext cx="10728655" cy="123444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074920"/>
            <a:ext cx="10362895" cy="1051560"/>
          </a:xfrm>
          <a:prstGeom prst="rect">
            <a:avLst/>
          </a:prstGeom>
          <a:noFill/>
        </p:spPr>
        <p:txBody>
          <a:bodyPr wrap="square">
            <a:spAutoFit/>
          </a:bodyPr>
          <a:lstStyle/>
          <a:p>
            <a:r>
              <a:rPr b="1" sz="1100">
                <a:solidFill>
                  <a:srgbClr val="0D9488"/>
                </a:solidFill>
              </a:rPr>
              <a:t>SUBMITTED BY: TEAM 65 — VELTROX
</a:t>
            </a:r>
            <a:r>
              <a:rPr sz="900">
                <a:solidFill>
                  <a:srgbClr val="E2E8F0"/>
                </a:solidFill>
              </a:rPr>
              <a:t>• Kishan Kumar H V (Lead &amp; Cloud/DevOps Architect)    • Santhosh J R (Full-Stack &amp; Biometrics Core Engineer)
• Suhas B R (Security &amp; Steganography Architect)       • Dhruva Kumar V M (Frontend Lead &amp; UI/UX Specialist)
HackMITTen 2026 | Cybersecurity &amp; Applied AI Track | Final Phase 4 Submission Verified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